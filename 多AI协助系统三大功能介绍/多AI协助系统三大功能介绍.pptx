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notesMasters/notesMaster1.xml" ContentType="application/vnd.openxmlformats-officedocument.presentationml.notesMaster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9" Type="http://schemas.openxmlformats.org/officeDocument/2006/relationships/slide" Target="slides/slide9.xml" /><Relationship Id="rId2" Type="http://schemas.openxmlformats.org/officeDocument/2006/relationships/slide" Target="slides/slide2.xml" /><Relationship Id="rId15" Type="http://schemas.openxmlformats.org/officeDocument/2006/relationships/notesMaster" Target="notesMasters/notesMaster1.xml" /><Relationship Id="rId14" Type="http://schemas.openxmlformats.org/officeDocument/2006/relationships/slide" Target="slides/slide14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6" Type="http://schemas.openxmlformats.org/officeDocument/2006/relationships/presProps" Target="presProps.xml" /><Relationship Id="rId6" Type="http://schemas.openxmlformats.org/officeDocument/2006/relationships/slide" Target="slides/slide6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4" Type="http://schemas.openxmlformats.org/officeDocument/2006/relationships/image" Target="media/image13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Relationship Id="rId3" Type="http://schemas.openxmlformats.org/officeDocument/2006/relationships/image" Target="media/image12.svg" /><Relationship Id="rId2" Type="http://schemas.openxmlformats.org/officeDocument/2006/relationships/image" Target="media/image11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Relationship Id="rId2" Type="http://schemas.openxmlformats.org/officeDocument/2006/relationships/image" Target="media/image15.svg" /><Relationship Id="rId3" Type="http://schemas.openxmlformats.org/officeDocument/2006/relationships/image" Target="media/image16.svg" /><Relationship Id="rId4" Type="http://schemas.openxmlformats.org/officeDocument/2006/relationships/image" Target="media/image17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4" Type="http://schemas.openxmlformats.org/officeDocument/2006/relationships/image" Target="media/image21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8.svg" /><Relationship Id="rId2" Type="http://schemas.openxmlformats.org/officeDocument/2006/relationships/image" Target="media/image19.svg" /><Relationship Id="rId3" Type="http://schemas.openxmlformats.org/officeDocument/2006/relationships/image" Target="media/image20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2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4.svg" /><Relationship Id="rId1" Type="http://schemas.openxmlformats.org/officeDocument/2006/relationships/image" Target="media/image23.svg" /><Relationship Id="rId3" Type="http://schemas.openxmlformats.org/officeDocument/2006/relationships/image" Target="media/image25.svg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3.svg" /><Relationship Id="rId3" Type="http://schemas.openxmlformats.org/officeDocument/2006/relationships/image" Target="media/image4.svg" /><Relationship Id="rId4" Type="http://schemas.openxmlformats.org/officeDocument/2006/relationships/image" Target="media/image5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Relationship Id="rId3" Type="http://schemas.openxmlformats.org/officeDocument/2006/relationships/image" Target="media/image8.svg" /><Relationship Id="rId2" Type="http://schemas.openxmlformats.org/officeDocument/2006/relationships/image" Target="media/image7.svg" /><Relationship Id="rId4" Type="http://schemas.openxmlformats.org/officeDocument/2006/relationships/image" Target="media/image9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1280, height: 720, background: '#0B2545', position: 'relative' }}&gt;&#10;    &lt;Image src='assets/cover_ai_network.png' style={{ position: 'absolute', top: 0, left: 0, width: 1280, height: 720, objectFit: 'cover' }} /&gt;&#10;    &lt;Box style={{ position: 'absolute', top: 0, left: 0, width: 1280, height: 720, background: 'linear-gradient(90deg, rgba(11,37,69,0.92) 0%, rgba(11,37,69,0.70) 48%, rgba(11,37,69,0.30) 100%)' }} /&gt;&#10;    &lt;Box style={{ position: 'relative', width: 1280, height: 720, flexDirection: 'column', justifyContent: 'center', paddingLeft: 84 }}&gt;&#10;        &lt;Box style={{ flexDirection: 'row', alignItems: 'center', gap: 12, marginBottom: 30 }}&gt;&#10;            &lt;Box style={{ width: 44, height: 4, background: '#00C9A7' }} /&gt;&#10;            &lt;Text style={{ fontSize: 20, color: '#00C9A7', letterSpacing: 4 }}&gt;项目设计总方案 · 2026-09&lt;/Text&gt;&#10;        &lt;/Box&gt;&#10;        &lt;Text style={{ fontSize: 68, fontWeight: 'bold', color: '#FFFFFF', lineHeight: 1.15 }}&gt;多AI协助系统&lt;/Text&gt;&#10;        &lt;Text style={{ fontSize: 44, fontWeight: 'bold', color: '#FFFFFF', opacity: 0.92, marginTop: 10, marginBottom: 34 }}&gt;三大功能设计总方案&lt;/Text&gt;&#10;        &lt;Text style={{ fontSize: 21, color: 'rgba(255,255,255,0.88)', lineHeight: 1.75 }}&gt;&#10;            一套架构 · 三张页面 · 八个模型&lt;br /&gt;&#10;            用多模型协作，把 AI 输出从「看运气」变成「走程序」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5584" r="0" b="558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545">
                  <a:alpha val="92000"/>
                </a:srgbClr>
              </a:gs>
              <a:gs pos="48000">
                <a:srgbClr val="0B2545">
                  <a:alpha val="70000"/>
                </a:srgbClr>
              </a:gs>
              <a:gs pos="100000">
                <a:srgbClr val="0B2545">
                  <a:alpha val="3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800100" y="1933575"/>
            <a:ext cx="419100" cy="381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333500" y="1838325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300">
                <a:solidFill>
                  <a:srgbClr val="00C9A7"/>
                </a:solidFill>
                <a:latin typeface="Microsoft YaHei"/>
                <a:ea typeface="Microsoft YaHei"/>
              </a:rPr>
              <a:t>项目设计总方案</a:t>
            </a:r>
            <a:r>
              <a:rPr lang="en-US" sz="1500" spc="300">
                <a:solidFill>
                  <a:srgbClr val="00C9A7"/>
                </a:solidFill>
                <a:latin typeface="Microsoft YaHei"/>
                <a:ea typeface="Microsoft YaHei"/>
              </a:rPr>
              <a:t> · 2026-09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00100" y="2352675"/>
            <a:ext cx="1139190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100" b="1">
                <a:solidFill>
                  <a:srgbClr val="FFFFFF"/>
                </a:solidFill>
                <a:latin typeface="Microsoft YaHei"/>
                <a:ea typeface="Microsoft YaHei"/>
              </a:rPr>
              <a:t>多</a:t>
            </a:r>
            <a:r>
              <a:rPr lang="en-US" sz="5100" b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lang="zh-CN" sz="5100" b="1">
                <a:solidFill>
                  <a:srgbClr val="FFFFFF"/>
                </a:solidFill>
                <a:latin typeface="Microsoft YaHei"/>
                <a:ea typeface="Microsoft YaHei"/>
              </a:rPr>
              <a:t>协助系统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00100" y="4171950"/>
            <a:ext cx="113919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一套架构</a:t>
            </a:r>
            <a:r>
              <a:rPr lang="en-US" sz="15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5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三张页面</a:t>
            </a:r>
            <a:r>
              <a:rPr lang="en-US" sz="15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5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八个模型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用多模型协作，把</a:t>
            </a:r>
            <a:r>
              <a:rPr lang="en-US" sz="15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输出从「看运气」变成「走程序」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3343275"/>
            <a:ext cx="113919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三大功能设计总方案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08" name="" descr="&lt;Slide style={{ width: 1280, height: 720, background: '#FFFFFF', padding: '20px 64px' }}&gt;&#10;    &lt;Box style={{ flexDirection: 'row', alignItems: 'center', gap: 16, height: 100 }}&gt;&#10;        &lt;Box style={{ width: 4, height: 40, background: '#0B2545' }} /&gt;&#10;        &lt;Text style={{ fontSize: 34, fontWeight: 'bold', color: '#0B2545' }}&gt;目录&lt;/Text&gt;&#10;    &lt;/Box&gt;&#10;    &lt;Box style={{ flexDirection: 'row', gap: 28, height: 520, marginTop: 12 }}&gt;&#10;        &lt;Box style={{ width: 360, height: 520, borderRadius: 16, background: 'linear-gradient(135deg, #0B2545 0%, #123C6E 100%)', padding: 40, flexDirection: 'column', justifyContent: 'space-between' }}&gt;&#10;            &lt;Text style={{ fontSize: 40, fontWeight: 'bold', color: '#FFFFFF', lineHeight: 1.3 }}&gt;三章结构&lt;br /&gt;由底座到落地&lt;/Text&gt;&#10;            &lt;Text style={{ fontSize: 17, color: 'rgba(255,255,255,0.78)', lineHeight: 1.8 }}&gt;&#10;                先看三个功能共用的统一基座；&lt;br /&gt;&#10;                再逐一拆开三大功能模块；&lt;br /&gt;&#10;                最后回到决定系统能否长期维护的五条落地约束。&#10;            &lt;/Text&gt;&#10;        &lt;/Box&gt;&#10;        &lt;Box style={{ flex: 1, flexDirection: 'column', gap: 18 }}&gt;&#10;            &lt;Box style={{ height: 161, borderRadius: 14, background: '#F4F7FB', padding: '0 32', flexDirection: 'row', alignItems: 'center', gap: 24 }}&gt;&#10;                &lt;Text style={{ fontSize: 44, fontWeight: 'bold', color: '#00C9A7' }}&gt;01&lt;/Text&gt;&#10;                &lt;Box style={{ flexDirection: 'column', gap: 8 }}&gt;&#10;                    &lt;Text style={{ fontSize: 23, fontWeight: 'bold', color: '#0B2545' }}&gt;全局设计基座&lt;/Text&gt;&#10;                    &lt;Text style={{ fontSize: 16, color: '#64748B', lineHeight: 1.6 }}&gt;核心设计哲学 · 8 个模型的双渠道管理 · 通用底层能力与页面架构规则&lt;/Text&gt;&#10;                &lt;/Box&gt;&#10;            &lt;/Box&gt;&#10;            &lt;Box style={{ height: 161, borderRadius: 14, background: '#F4F7FB', padding: '0 32', flexDirection: 'row', alignItems: 'center', gap: 24 }}&gt;&#10;                &lt;Text style={{ fontSize: 44, fontWeight: 'bold', color: '#00C9A7' }}&gt;02&lt;/Text&gt;&#10;                &lt;Box style={{ flexDirection: 'column', gap: 8 }}&gt;&#10;                    &lt;Text style={{ fontSize: 23, fontWeight: 'bold', color: '#0B2545' }}&gt;三大功能模块&lt;/Text&gt;&#10;                    &lt;Text style={{ fontSize: 16, color: '#64748B', lineHeight: 1.6 }}&gt;文档智能 Prompt 生成 · 多 AI 自动讨论与裁判监管 · AI 三级文章生成&lt;/Text&gt;&#10;                &lt;/Box&gt;&#10;            &lt;/Box&gt;&#10;            &lt;Box style={{ height: 161, borderRadius: 14, background: '#F4F7FB', padding: '0 32', flexDirection: 'row', alignItems: 'center', gap: 24 }}&gt;&#10;                &lt;Text style={{ fontSize: 44, fontWeight: 'bold', color: '#00C9A7' }}&gt;03&lt;/Text&gt;&#10;                &lt;Box style={{ flexDirection: 'column', gap: 8 }}&gt;&#10;                    &lt;Text style={{ fontSize: 23, fontWeight: 'bold', color: '#0B2545' }}&gt;落地约束&lt;/Text&gt;&#10;                    &lt;Text style={{ fontSize: 16, color: '#64748B', lineHeight: 1.6 }}&gt;架构、接口、性能、体验、可扩展五条统一要求，支撑后续迭代升级&lt;/Text&gt;&#10;                &lt;/Box&gt;&#10;            &lt;/Box&gt;&#10;        &lt;/Box&gt;&#10;    &lt;/Box&gt;&#10;    &lt;Box style={{ flexDirection: 'row', justifyContent: 'space-between', alignItems: 'center', height: 36, marginTop: 12 }}&gt;&#10;        &lt;Text style={{ fontSize: 14, color: '#64748B' }}&gt;多AI协助系统 · 三大功能设计总方案&lt;/Text&gt;&#10;        &lt;Text style={{ fontSize: 14, color: '#64748B' }}&gt;02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609600" y="476250"/>
            <a:ext cx="38100" cy="381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647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09600" y="1257300"/>
            <a:ext cx="3429000" cy="4953000"/>
          </a:xfrm>
          <a:prstGeom prst="roundRect">
            <a:avLst>
              <a:gd name="adj" fmla="val 4444"/>
            </a:avLst>
          </a:prstGeom>
          <a:gradFill>
            <a:gsLst>
              <a:gs pos="0">
                <a:srgbClr val="0B2545"/>
              </a:gs>
              <a:gs pos="100000">
                <a:srgbClr val="123C6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990600" y="1638300"/>
            <a:ext cx="2667000" cy="11906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三章结构</a:t>
            </a:r>
            <a:endParaRPr/>
          </a:p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由底座到落地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90600" y="4429125"/>
            <a:ext cx="2667000" cy="1400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先看三个功能共用的统一基座；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再逐一拆开三大功能模块；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最后回到决定系统能否长期维护的五条落地约束。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4305300" y="1257300"/>
            <a:ext cx="7277100" cy="1533525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610100" y="1771650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0C9A7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362575" y="1704975"/>
            <a:ext cx="46577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B2545"/>
                </a:solidFill>
                <a:latin typeface="Microsoft YaHei"/>
                <a:ea typeface="Microsoft YaHei"/>
              </a:rPr>
              <a:t>全局设计基座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362575" y="2047875"/>
            <a:ext cx="46577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核心设计哲学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 8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个模型的双渠道管理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通用底层能力与页面架构规则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305300" y="2962275"/>
            <a:ext cx="7277100" cy="1533525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610100" y="3476625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0C9A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362575" y="3409950"/>
            <a:ext cx="4686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B2545"/>
                </a:solidFill>
                <a:latin typeface="Microsoft YaHei"/>
                <a:ea typeface="Microsoft YaHei"/>
              </a:rPr>
              <a:t>三大功能模块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362575" y="3752850"/>
            <a:ext cx="46863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文档智能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Prompt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生成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多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自动讨论与裁判监管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 AI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三级文章生成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4305300" y="4667250"/>
            <a:ext cx="7277100" cy="1533525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610100" y="5181600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0C9A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362575" y="5114925"/>
            <a:ext cx="45720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B2545"/>
                </a:solidFill>
                <a:latin typeface="Microsoft YaHei"/>
                <a:ea typeface="Microsoft YaHei"/>
              </a:rPr>
              <a:t>落地约束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362575" y="5457825"/>
            <a:ext cx="4572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架构、接口、性能、体验、可扩展五条统一要求，支撑后续迭代升级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协助系统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三大功能设计总方案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1125200" y="64198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29" name="" descr="&lt;Slide style={{ width: 1280, height: 720, background: 'linear-gradient(135deg, #0B2545 0%, #123C6E 100%)', padding: '20px 84px' }}&gt;&#10;    &lt;Box style={{ flex: 1, flexDirection: 'column', justifyContent: 'center' }}&gt;&#10;        &lt;Box style={{ flexDirection: 'row', alignItems: 'flex-end', gap: 24 }}&gt;&#10;            &lt;Text style={{ fontSize: 100, fontWeight: 'bold', color: '#00C9A7', lineHeight: 1 }}&gt;01&lt;/Text&gt;&#10;            &lt;Text style={{ fontSize: 64, fontWeight: 'bold', color: '#FFFFFF', lineHeight: 1.1, paddingBottom: 8 }}&gt;全局设计基座&lt;/Text&gt;&#10;        &lt;/Box&gt;&#10;        &lt;Text style={{ fontSize: 20, color: 'rgba(255,255,255,0.78)', marginTop: 28, lineHeight: 1.7 }}&gt;&#10;            三个功能共用同一套调度、接口与轻量化底座——这是全部差异化的前提&#10;        &lt;/Text&gt;&#10;    &lt;/Box&gt;&#10;    &lt;Box style={{ flexDirection: 'row', justifyContent: 'space-between', alignItems: 'center', height: 36 }}&gt;&#10;        &lt;Text style={{ fontSize: 14, color: 'rgba(255,255,255,0.55)' }}&gt;多AI协助系统 · 三大功能设计总方案&lt;/Text&gt;&#10;        &lt;Text style={{ fontSize: 14, color: 'rgba(255,255,255,0.55)' }}&gt;03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123C6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00100" y="2362200"/>
            <a:ext cx="118110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00C9A7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2209800" y="2619375"/>
            <a:ext cx="3657600" cy="885825"/>
          </a:xfrm>
          <a:prstGeom prst="rect"/>
        </p:spPr>
        <p:txBody>
          <a:bodyPr wrap="none" lIns="0" tIns="0" rIns="0" bIns="57150"/>
          <a:p>
            <a:pPr>
              <a:lnSpc>
                <a:spcPct val="11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全局设计基座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00100" y="3771900"/>
            <a:ext cx="10591800" cy="3905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三个功能共用同一套调度、接口与轻量化底座——这是全部差异化的前提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00100" y="641985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协助系统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三大功能设计总方案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0934700" y="64198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36" name="" descr="&lt;Slide style={{ width: 1280, height: 720, background: '#FFFFFF', padding: '20px 64px' }}&gt;&#10;    &lt;Box style={{ flexDirection: 'row', alignItems: 'center', gap: 16, height: 100 }}&gt;&#10;        &lt;Box style={{ width: 4, height: 40, background: '#0B2545' }} /&gt;&#10;        &lt;Text style={{ fontSize: 34, fontWeight: 'bold', color: '#0B2545' }}&gt;核心设计哲学：四段式校验链路&lt;/Text&gt;&#10;    &lt;/Box&gt;&#10;    &lt;Box style={{ flexDirection: 'row', gap: 28, height: 520, marginTop: 12 }}&gt;&#10;        &lt;Box style={{ width: 690, height: 520, borderRadius: 16, background: '#F4F7FB', padding: 24, justifyContent: 'center', alignItems: 'center' }}&gt;&#10;            &lt;svg width={642} height={466} viewBox='0 0 642 466'&gt;&#10;                &lt;rect x='10' y='6' width='622' height='88' rx='10' fill='#FFFFFF' stroke='#2E7CF6' strokeWidth='2' /&gt;&#10;                &lt;text x='38' y='42' fontSize='21' fontWeight='bold' fill='#0B2545'&gt;前置处理&lt;/text&gt;&#10;                &lt;text x='38' y='72' fontSize='14.5' fill='#64748B'&gt;识别文档类型 · 解析用户需求 · 生成结构化需求单&lt;/text&gt;&#10;                &lt;line x1='321' y1='94' x2='321' y2='112' stroke='#2E7CF6' strokeWidth='2.5' /&gt;&#10;                &lt;polygon points='315,110 327,110 321,120' fill='#2E7CF6' /&gt;&#10;                &lt;rect x='10' y='122' width='622' height='88' rx='10' fill='#FFFFFF' stroke='#2E7CF6' strokeWidth='2' /&gt;&#10;                &lt;text x='38' y='158' fontSize='21' fontWeight='bold' fill='#0B2545'&gt;分层生成&lt;/text&gt;&#10;                &lt;text x='38' y='188' fontSize='14.5' fill='#64748B'&gt;多角色 AI 固定串行接力 · 逐级迭代优化&lt;/text&gt;&#10;                &lt;line x1='321' y1='210' x2='321' y2='228' stroke='#2E7CF6' strokeWidth='2.5' /&gt;&#10;                &lt;polygon points='315,226 327,226 321,236' fill='#2E7CF6' /&gt;&#10;                &lt;rect x='10' y='238' width='622' height='88' rx='10' fill='rgba(0,201,167,0.10)' stroke='#00C9A7' strokeWidth='3' /&gt;&#10;                &lt;text x='38' y='274' fontSize='21' fontWeight='bold' fill='#0B2545'&gt;多数裁决&lt;/text&gt;&#10;                &lt;text x='38' y='304' fontSize='14.5' fill='#0B7A68'&gt;裁判校验 · 共识判定 · 不合格即修正后输出&lt;/text&gt;&#10;                &lt;line x1='321' y1='326' x2='321' y2='344' stroke='#2E7CF6' strokeWidth='2.5' /&gt;&#10;                &lt;polygon points='315,342 327,342 321,352' fill='#2E7CF6' /&gt;&#10;                &lt;rect x='10' y='354' width='622' height='88' rx='10' fill='#FFFFFF' stroke='#2E7CF6' strokeWidth='2' /&gt;&#10;                &lt;text x='38' y='390' fontSize='21' fontWeight='bold' fill='#0B2545'&gt;后置纠偏&lt;/text&gt;&#10;                &lt;text x='38' y='420' fontSize='14.5' fill='#64748B'&gt;异常重写 · 降级兜底 · 保障稳定输出&lt;/text&gt;&#10;            &lt;/svg&gt;&#10;        &lt;/Box&gt;&#10;        &lt;Box style={{ flex: 1, flexDirection: 'column', justifyContent: 'center', gap: 20 }}&gt;&#10;            &lt;Text style={{ fontSize: 24, fontWeight: 'bold', color: '#0B2545' }}&gt;质量来自流程，不来自模型&lt;/Text&gt;&#10;            &lt;Text style={{ fontSize: 17, color: '#14202E', lineHeight: 1.7 }}&gt;&#10;                全系统贯彻「不信任单一 AI，凡事走程序校验」的原则：每一环产出都必须经过下一环复核，多数裁决与后置纠偏兜住单模型的随机性——8 个模型不是越多越好，而是让每个结论都有程序背书。&#10;            &lt;/Text&gt;&#10;            &lt;Box style={{ flexDirection: 'row', alignItems: 'center', gap: 14 }}&gt;&#10;                &lt;FAIcon name='cubes' style={{ fill: '#2E7CF6', width: 26, height: 26 }} /&gt;&#10;                &lt;Text style={{ fontSize: 16, color: '#14202E', lineHeight: 1.55 }}&gt;架构统一：三大功能复用同一套调度与 API 管理&lt;/Text&gt;&#10;            &lt;/Box&gt;&#10;            &lt;Box style={{ flexDirection: 'row', alignItems: 'center', gap: 14 }}&gt;&#10;                &lt;FAIcon name='route' style={{ fill: '#2E7CF6', width: 26, height: 26 }} /&gt;&#10;                &lt;Text style={{ fontSize: 16, color: '#14202E', lineHeight: 1.55 }}&gt;逻辑同源：AI 角色固定串行，链路可复现、可回溯&lt;/Text&gt;&#10;            &lt;/Box&gt;&#10;            &lt;Box style={{ flexDirection: 'row', alignItems: 'center', gap: 14 }}&gt;&#10;                &lt;FAIcon name='shield' style={{ fill: '#00C9A7', width: 26, height: 26 }} /&gt;&#10;                &lt;Text style={{ fontSize: 16, color: '#14202E', lineHeight: 1.55 }}&gt;异常兜底：输出为空即重试，再失败降级备用 AI&lt;/Text&gt;&#10;            &lt;/Box&gt;&#10;        &lt;/Box&gt;&#10;    &lt;/Box&gt;&#10;    &lt;Box style={{ flexDirection: 'row', justifyContent: 'space-between', alignItems: 'center', height: 36, marginTop: 12 }}&gt;&#10;        &lt;Text style={{ fontSize: 14, color: '#64748B' }}&gt;多AI协助系统 · 三大功能设计总方案&lt;/Text&gt;&#10;        &lt;Text style={{ fontSize: 14, color: '#64748B' }}&gt;04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609600" y="476250"/>
            <a:ext cx="38100" cy="381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核心设计哲学：四段式校验链路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09600" y="1257300"/>
            <a:ext cx="6572250" cy="495300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1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514475"/>
            <a:ext cx="6115050" cy="4438650"/>
          </a:xfrm>
          <a:prstGeom prst="rect">
            <a:avLst/>
          </a:prstGeom>
          <a:ln/>
        </p:spPr>
      </p:pic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448550" y="2124075"/>
            <a:ext cx="4133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2545"/>
                </a:solidFill>
                <a:latin typeface="Microsoft YaHei"/>
                <a:ea typeface="Microsoft YaHei"/>
              </a:rPr>
              <a:t>质量来自流程，不来自模型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448550" y="2590800"/>
            <a:ext cx="4133850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14202E"/>
                </a:solidFill>
                <a:latin typeface="Microsoft YaHei"/>
                <a:ea typeface="Microsoft YaHei"/>
              </a:rPr>
              <a:t>全系统贯彻「不信任单一</a:t>
            </a:r>
            <a:r>
              <a:rPr lang="en-US" sz="1275">
                <a:solidFill>
                  <a:srgbClr val="14202E"/>
                </a:solidFill>
                <a:latin typeface="Microsoft YaHei"/>
                <a:ea typeface="Microsoft YaHei"/>
              </a:rPr>
              <a:t> AI</a:t>
            </a:r>
            <a:r>
              <a:rPr lang="zh-CN" sz="1275">
                <a:solidFill>
                  <a:srgbClr val="14202E"/>
                </a:solidFill>
                <a:latin typeface="Microsoft YaHei"/>
                <a:ea typeface="Microsoft YaHei"/>
              </a:rPr>
              <a:t>，凡事走程序校验」的原则：每一环产出都必须经过下一环复核，多数裁决与后置纠偏兜住单模型的随机性——</a:t>
            </a:r>
            <a:r>
              <a:rPr lang="en-US" sz="1275">
                <a:solidFill>
                  <a:srgbClr val="14202E"/>
                </a:solidFill>
                <a:latin typeface="Microsoft YaHei"/>
                <a:ea typeface="Microsoft YaHei"/>
              </a:rPr>
              <a:t>8 </a:t>
            </a:r>
            <a:r>
              <a:rPr lang="zh-CN" sz="1275">
                <a:solidFill>
                  <a:srgbClr val="14202E"/>
                </a:solidFill>
                <a:latin typeface="Microsoft YaHei"/>
                <a:ea typeface="Microsoft YaHei"/>
              </a:rPr>
              <a:t>个模型不是越多越好，而是让每个结论都有程序背书。</a:t>
            </a:r>
            <a:endParaRPr/>
          </a:p>
        </p:txBody>
      </p:sp>
      <p:pic>
        <p:nvPicPr>
          <p:cNvPr id="1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48550" y="4124325"/>
            <a:ext cx="247650" cy="247650"/>
          </a:xfrm>
          <a:prstGeom prst="rect">
            <a:avLst/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829550" y="4105275"/>
            <a:ext cx="32385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架构统一：三大功能复用同一套调度与</a:t>
            </a:r>
            <a:r>
              <a:rPr lang="en-US" sz="1200">
                <a:solidFill>
                  <a:srgbClr val="14202E"/>
                </a:solidFill>
                <a:latin typeface="Microsoft YaHei"/>
                <a:ea typeface="Microsoft YaHei"/>
              </a:rPr>
              <a:t> API </a:t>
            </a: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管理</a:t>
            </a:r>
            <a:endParaRPr/>
          </a:p>
        </p:txBody>
      </p:sp>
      <p:pic>
        <p:nvPicPr>
          <p:cNvPr id="1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448550" y="4600575"/>
            <a:ext cx="247650" cy="247650"/>
          </a:xfrm>
          <a:prstGeom prst="rect">
            <a:avLst/>
          </a:prstGeom>
          <a:ln/>
        </p:spPr>
      </p:pic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829550" y="4581525"/>
            <a:ext cx="340042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逻辑同源：</a:t>
            </a:r>
            <a:r>
              <a:rPr lang="en-US" sz="1200">
                <a:solidFill>
                  <a:srgbClr val="14202E"/>
                </a:solidFill>
                <a:latin typeface="Microsoft YaHei"/>
                <a:ea typeface="Microsoft YaHei"/>
              </a:rPr>
              <a:t>AI </a:t>
            </a: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角色固定串行，链路可复现、可回溯</a:t>
            </a:r>
            <a:endParaRPr/>
          </a:p>
        </p:txBody>
      </p:sp>
      <p:pic>
        <p:nvPicPr>
          <p:cNvPr id="1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448550" y="5076825"/>
            <a:ext cx="247650" cy="247650"/>
          </a:xfrm>
          <a:prstGeom prst="rect">
            <a:avLst/>
          </a:prstGeom>
          <a:ln/>
        </p:spPr>
      </p:pic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829550" y="5057775"/>
            <a:ext cx="324802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异常兜底：输出为空即重试，再失败降级备用</a:t>
            </a:r>
            <a:r>
              <a:rPr lang="en-US" sz="1200">
                <a:solidFill>
                  <a:srgbClr val="14202E"/>
                </a:solidFill>
                <a:latin typeface="Microsoft YaHei"/>
                <a:ea typeface="Microsoft YaHei"/>
              </a:rPr>
              <a:t> AI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协助系统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三大功能设计总方案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125200" y="64198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52" name="" descr="&lt;Slide style={{ width: 1280, height: 720, background: '#FFFFFF', padding: '20px 64px' }}&gt;&#10;    &lt;Box style={{ flexDirection: 'row', alignItems: 'center', gap: 16, height: 100 }}&gt;&#10;        &lt;Box style={{ width: 4, height: 40, background: '#0B2545' }} /&gt;&#10;        &lt;Text style={{ fontSize: 34, fontWeight: 'bold', color: '#0B2545' }}&gt;全局 AI 资源与通用底层能力&lt;/Text&gt;&#10;    &lt;/Box&gt;&#10;    &lt;Box style={{ flexDirection: 'row', gap: 28, height: 520, marginTop: 12 }}&gt;&#10;        &lt;Box style={{ width: 320, height: 520, borderRadius: 16, background: 'linear-gradient(135deg, #0B2545 0%, #123C6E 100%)', padding: 36, flexDirection: 'column', justifyContent: 'center' }}&gt;&#10;            &lt;Text style={{ fontSize: 110, fontWeight: 'bold', color: '#00C9A7', lineHeight: 1 }}&gt;8&lt;/Text&gt;&#10;            &lt;Text style={{ fontSize: 24, fontWeight: 'bold', color: '#FFFFFF', marginTop: 14 }}&gt;个固定可调用模型&lt;/Text&gt;&#10;            &lt;Text style={{ fontSize: 16, color: 'rgba(255,255,255,0.75)', marginTop: 14, lineHeight: 1.7 }}&gt;中转 + 官方双渠道统一管理，三大功能按需调用&lt;/Text&gt;&#10;        &lt;/Box&gt;&#10;        &lt;Box style={{ flex: 1, flexDirection: 'column', gap: 16 }}&gt;&#10;            &lt;Box style={{ height: 96, borderRadius: 12, background: '#F4F7FB', padding: '0 24', flexDirection: 'row', alignItems: 'center', gap: 18 }}&gt;&#10;                &lt;Box style={{ background: '#2E7CF6', borderRadius: 6, padding: '8px 16px' }}&gt;&#10;                    &lt;Text style={{ fontSize: 15, fontWeight: 'bold', color: '#FFFFFF' }}&gt;中转 API 渠道&lt;/Text&gt;&#10;                &lt;/Box&gt;&#10;                &lt;Box style={{ flexDirection: 'row', gap: 12 }}&gt;&#10;                    &lt;Box style={{ background: '#FFFFFF', border: '1.5px solid #2E7CF6', borderRadius: 999, padding: '9px 22px' }}&gt;&lt;Text style={{ fontSize: 16, color: '#0B2545' }}&gt;Gemini&lt;/Text&gt;&lt;/Box&gt;&#10;                    &lt;Box style={{ background: '#FFFFFF', border: '1.5px solid #2E7CF6', borderRadius: 999, padding: '9px 22px' }}&gt;&lt;Text style={{ fontSize: 16, color: '#0B2545' }}&gt;OpenAI&lt;/Text&gt;&lt;/Box&gt;&#10;                    &lt;Box style={{ background: '#FFFFFF', border: '1.5px solid #2E7CF6', borderRadius: 999, padding: '9px 22px' }}&gt;&lt;Text style={{ fontSize: 16, color: '#0B2545' }}&gt;Claude&lt;/Text&gt;&lt;/Box&gt;&#10;                    &lt;Box style={{ background: '#FFFFFF', border: '1.5px solid #2E7CF6', borderRadius: 999, padding: '9px 22px' }}&gt;&lt;Text style={{ fontSize: 16, color: '#0B2545' }}&gt;Grok&lt;/Text&gt;&lt;/Box&gt;&#10;                &lt;/Box&gt;&#10;            &lt;/Box&gt;&#10;            &lt;Box style={{ height: 96, borderRadius: 12, background: '#F4F7FB', padding: '0 24', flexDirection: 'row', alignItems: 'center', gap: 18 }}&gt;&#10;                &lt;Box style={{ background: '#0B2545', borderRadius: 6, padding: '8px 16px' }}&gt;&#10;                    &lt;Text style={{ fontSize: 15, fontWeight: 'bold', color: '#FFFFFF' }}&gt;官方 API 渠道&lt;/Text&gt;&#10;                &lt;/Box&gt;&#10;                &lt;Box style={{ flexDirection: 'row', gap: 12 }}&gt;&#10;                    &lt;Box style={{ background: '#FFFFFF', border: '1.5px solid #0B2545', borderRadius: 999, padding: '9px 18px' }}&gt;&lt;Text style={{ fontSize: 16, color: '#0B2545' }}&gt;DeepSeek&lt;/Text&gt;&lt;/Box&gt;&#10;                    &lt;Box style={{ background: '#FFFFFF', border: '1.5px solid #0B2545', borderRadius: 999, padding: '9px 18px' }}&gt;&lt;Text style={{ fontSize: 16, color: '#0B2545' }}&gt;智谱大模型&lt;/Text&gt;&lt;/Box&gt;&#10;                    &lt;Box style={{ background: '#FFFFFF', border: '1.5px solid #0B2545', borderRadius: 999, padding: '9px 18px' }}&gt;&lt;Text style={{ fontSize: 16, color: '#0B2545' }}&gt;文心一言&lt;/Text&gt;&lt;/Box&gt;&#10;                    &lt;Box style={{ background: '#FFFFFF', border: '1.5px solid #0B2545', borderRadius: 999, padding: '9px 18px' }}&gt;&lt;Text style={{ fontSize: 16, color: '#0B2545' }}&gt;Kimi&lt;/Text&gt;&lt;/Box&gt;&#10;                &lt;/Box&gt;&#10;            &lt;/Box&gt;&#10;            &lt;Box style={{ flex: 1, flexDirection: 'column', gap: 12 }}&gt;&#10;                &lt;Box style={{ flexDirection: 'row', gap: 12, flex: 1 }}&gt;&#10;                    &lt;Box style={{ flex: 1, background: '#FFFFFF', border: '1px solid #E2E8F0', borderRadius: 10, padding: '14px 20px', flexDirection: 'row', alignItems: 'center', gap: 14 }}&gt;&#10;                        &lt;FAIcon name='cog' style={{ fill: '#2E7CF6', width: 26, height: 26 }} /&gt;&#10;                        &lt;Box style={{ flexDirection: 'column', gap: 4 }}&gt;&#10;                            &lt;Text style={{ fontSize: 16, fontWeight: 'bold', color: '#0B2545' }}&gt;统一 AI 调度中心&lt;/Text&gt;&#10;                            &lt;Text style={{ fontSize: 13, color: '#64748B' }}&gt;模型调用 · 配额管理 · 异常重试 · 降级兜底&lt;/Text&gt;&#10;                        &lt;/Box&gt;&#10;                    &lt;/Box&gt;&#10;                    &lt;Box style={{ flex: 1, background: '#FFFFFF', border: '1px solid #E2E8F0', borderRadius: 10, padding: '14px 20px', flexDirection: 'row', alignItems: 'center', gap: 14 }}&gt;&#10;                        &lt;FAIcon name='database' style={{ fill: '#2E7CF6', width: 26, height: 26 }} /&gt;&#10;                        &lt;Box style={{ flexDirection: 'column', gap: 4 }}&gt;&#10;                            &lt;Text style={{ fontSize: 16, fontWeight: 'bold', color: '#0B2545' }}&gt;统一数据处理层&lt;/Text&gt;&#10;                            &lt;Text style={{ fontSize: 13, color: '#64748B' }}&gt;文本解析 · 上下文挂载 · 临时缓存 · 结果输出&lt;/Text&gt;&#10;                        &lt;/Box&gt;&#10;                    &lt;/Box&gt;&#10;                &lt;/Box&gt;&#10;                &lt;Box style={{ flexDirection: 'row', gap: 12, flex: 1 }}&gt;&#10;                    &lt;Box style={{ flex: 1, background: '#FFFFFF', border: '1px solid #E2E8F0', borderRadius: 10, padding: '14px 20px', flexDirection: 'row', alignItems: 'center', gap: 14 }}&gt;&#10;                        &lt;FAIcon name='plug' style={{ fill: '#2E7CF6', width: 26, height: 26 }} /&gt;&#10;                        &lt;Box style={{ flexDirection: 'column', gap: 4 }}&gt;&#10;                            &lt;Text style={{ fontSize: 16, fontWeight: 'bold', color: '#0B2545' }}&gt;统一接口规范&lt;/Text&gt;&#10;                            &lt;Text style={{ fontSize: 13, color: '#64748B' }}&gt;前后端数据格式与状态码同一定义&lt;/Text&gt;&#10;                        &lt;/Box&gt;&#10;                    &lt;/Box&gt;&#10;                    &lt;Box style={{ flex: 1, background: '#FFFFFF', border: '1px solid #E2E8F0', borderRadius: 10, padding: '14px 20px', flexDirection: 'row', alignItems: 'center', gap: 14 }}&gt;&#10;                        &lt;FAIcon name='server' style={{ fill: '#00C9A7', width: 26, height: 26 }} /&gt;&#10;                        &lt;Box style={{ flexDirection: 'column', gap: 4 }}&gt;&#10;                            &lt;Text style={{ fontSize: 16, fontWeight: 'bold', color: '#0B2545' }}&gt;轻量化底座&lt;/Text&gt;&#10;                            &lt;Text style={{ fontSize: 13, color: '#64748B' }}&gt;适配 2GB 云服务器，控制并发与内存峰值&lt;/Text&gt;&#10;                        &lt;/Box&gt;&#10;                    &lt;/Box&gt;&#10;                &lt;/Box&gt;&#10;            &lt;/Box&gt;&#10;        &lt;/Box&gt;&#10;    &lt;/Box&gt;&#10;    &lt;Box style={{ flexDirection: 'row', justifyContent: 'space-between', alignItems: 'center', height: 36, marginTop: 12 }}&gt;&#10;        &lt;Text style={{ fontSize: 14, color: '#64748B' }}&gt;多AI协助系统 · 三大功能设计总方案&lt;/Text&gt;&#10;        &lt;Text style={{ fontSize: 14, color: '#64748B' }}&gt;05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609600" y="476250"/>
            <a:ext cx="38100" cy="381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4114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全局</a:t>
            </a:r>
            <a:r>
              <a:rPr lang="en-US" sz="2550" b="1">
                <a:solidFill>
                  <a:srgbClr val="0B2545"/>
                </a:solidFill>
                <a:latin typeface="Microsoft YaHei"/>
                <a:ea typeface="Microsoft YaHei"/>
              </a:rPr>
              <a:t> AI </a:t>
            </a: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资源与通用底层能力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09600" y="1257300"/>
            <a:ext cx="3048000" cy="49530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0B2545"/>
              </a:gs>
              <a:gs pos="100000">
                <a:srgbClr val="123C6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52500" y="2524125"/>
            <a:ext cx="236220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00C9A7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52500" y="3914775"/>
            <a:ext cx="2362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个固定可调用模型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952500" y="4324350"/>
            <a:ext cx="23622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中转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官方双渠道统一管理，三大功能按需调用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3924300" y="1257300"/>
            <a:ext cx="7658100" cy="914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4152900" y="1552575"/>
            <a:ext cx="1219200" cy="323850"/>
          </a:xfrm>
          <a:prstGeom prst="roundRect">
            <a:avLst>
              <a:gd name="adj" fmla="val 17647"/>
            </a:avLst>
          </a:prstGeom>
          <a:solidFill>
            <a:srgbClr val="2E7CF6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305300" y="16287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中转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 API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渠道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5543550" y="1533525"/>
            <a:ext cx="942975" cy="361950"/>
          </a:xfrm>
          <a:prstGeom prst="roundRect">
            <a:avLst>
              <a:gd name="adj" fmla="val 2628947"/>
            </a:avLst>
          </a:prstGeom>
          <a:solidFill>
            <a:srgbClr val="FFFFFF"/>
          </a:solidFill>
          <a:ln w="1905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753100" y="1619250"/>
            <a:ext cx="523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B2545"/>
                </a:solidFill>
                <a:latin typeface="Microsoft YaHei"/>
                <a:ea typeface="Microsoft YaHei"/>
              </a:rPr>
              <a:t>Gemini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600825" y="1533525"/>
            <a:ext cx="981075" cy="361950"/>
          </a:xfrm>
          <a:prstGeom prst="roundRect">
            <a:avLst>
              <a:gd name="adj" fmla="val 2628947"/>
            </a:avLst>
          </a:prstGeom>
          <a:solidFill>
            <a:srgbClr val="FFFFFF"/>
          </a:solidFill>
          <a:ln w="1905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810375" y="1619250"/>
            <a:ext cx="561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B2545"/>
                </a:solidFill>
                <a:latin typeface="Microsoft YaHei"/>
                <a:ea typeface="Microsoft YaHei"/>
              </a:rPr>
              <a:t>OpenAI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7696200" y="1533525"/>
            <a:ext cx="923925" cy="361950"/>
          </a:xfrm>
          <a:prstGeom prst="roundRect">
            <a:avLst>
              <a:gd name="adj" fmla="val 2628947"/>
            </a:avLst>
          </a:prstGeom>
          <a:solidFill>
            <a:srgbClr val="FFFFFF"/>
          </a:solidFill>
          <a:ln w="1905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905750" y="1619250"/>
            <a:ext cx="50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B2545"/>
                </a:solidFill>
                <a:latin typeface="Microsoft YaHei"/>
                <a:ea typeface="Microsoft YaHei"/>
              </a:rPr>
              <a:t>Claude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8734425" y="1533525"/>
            <a:ext cx="771525" cy="361950"/>
          </a:xfrm>
          <a:prstGeom prst="roundRect">
            <a:avLst>
              <a:gd name="adj" fmla="val 2628947"/>
            </a:avLst>
          </a:prstGeom>
          <a:solidFill>
            <a:srgbClr val="FFFFFF"/>
          </a:solidFill>
          <a:ln w="19050">
            <a:solidFill>
              <a:srgbClr val="2E7CF6"/>
            </a:solidFill>
            <a:prstDash val="solid"/>
          </a:ln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943975" y="1619250"/>
            <a:ext cx="352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B2545"/>
                </a:solidFill>
                <a:latin typeface="Microsoft YaHei"/>
                <a:ea typeface="Microsoft YaHei"/>
              </a:rPr>
              <a:t>Grok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3924300" y="2324100"/>
            <a:ext cx="7658100" cy="914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4152900" y="2619375"/>
            <a:ext cx="1219200" cy="323850"/>
          </a:xfrm>
          <a:prstGeom prst="roundRect">
            <a:avLst>
              <a:gd name="adj" fmla="val 17647"/>
            </a:avLst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305300" y="26955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官方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 API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渠道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5543550" y="2600325"/>
            <a:ext cx="1076325" cy="361950"/>
          </a:xfrm>
          <a:prstGeom prst="roundRect">
            <a:avLst>
              <a:gd name="adj" fmla="val 2628947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715000" y="2686050"/>
            <a:ext cx="733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B2545"/>
                </a:solidFill>
                <a:latin typeface="Microsoft YaHei"/>
                <a:ea typeface="Microsoft YaHei"/>
              </a:rPr>
              <a:t>DeepSeek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734175" y="2600325"/>
            <a:ext cx="1104900" cy="361950"/>
          </a:xfrm>
          <a:prstGeom prst="roundRect">
            <a:avLst>
              <a:gd name="adj" fmla="val 2628947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905625" y="26860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B2545"/>
                </a:solidFill>
                <a:latin typeface="Microsoft YaHei"/>
                <a:ea typeface="Microsoft YaHei"/>
              </a:rPr>
              <a:t>智谱大模型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7953375" y="2600325"/>
            <a:ext cx="952500" cy="361950"/>
          </a:xfrm>
          <a:prstGeom prst="roundRect">
            <a:avLst>
              <a:gd name="adj" fmla="val 2628947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124825" y="2686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B2545"/>
                </a:solidFill>
                <a:latin typeface="Microsoft YaHei"/>
                <a:ea typeface="Microsoft YaHei"/>
              </a:rPr>
              <a:t>文心一言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9020175" y="2600325"/>
            <a:ext cx="666750" cy="361950"/>
          </a:xfrm>
          <a:prstGeom prst="roundRect">
            <a:avLst>
              <a:gd name="adj" fmla="val 2628947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9191625" y="268605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B2545"/>
                </a:solidFill>
                <a:latin typeface="Microsoft YaHei"/>
                <a:ea typeface="Microsoft YaHei"/>
              </a:rPr>
              <a:t>Kimi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3924300" y="3390900"/>
            <a:ext cx="3771900" cy="135255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14800" y="3943350"/>
            <a:ext cx="247650" cy="247650"/>
          </a:xfrm>
          <a:prstGeom prst="rect">
            <a:avLst/>
          </a:prstGeom>
          <a:ln/>
        </p:spPr>
      </p:pic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495800" y="3876675"/>
            <a:ext cx="2295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545"/>
                </a:solidFill>
                <a:latin typeface="Microsoft YaHei"/>
                <a:ea typeface="Microsoft YaHei"/>
              </a:rPr>
              <a:t>统一</a:t>
            </a:r>
            <a:r>
              <a:rPr lang="en-US" sz="1200" b="1">
                <a:solidFill>
                  <a:srgbClr val="0B2545"/>
                </a:solidFill>
                <a:latin typeface="Microsoft YaHei"/>
                <a:ea typeface="Microsoft YaHei"/>
              </a:rPr>
              <a:t> AI </a:t>
            </a:r>
            <a:r>
              <a:rPr lang="zh-CN" sz="1200" b="1">
                <a:solidFill>
                  <a:srgbClr val="0B2545"/>
                </a:solidFill>
                <a:latin typeface="Microsoft YaHei"/>
                <a:ea typeface="Microsoft YaHei"/>
              </a:rPr>
              <a:t>调度中心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495800" y="4105275"/>
            <a:ext cx="2295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模型调用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配额管理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异常重试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降级兜底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7810500" y="3390900"/>
            <a:ext cx="3771900" cy="135255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01000" y="3943350"/>
            <a:ext cx="247650" cy="247650"/>
          </a:xfrm>
          <a:prstGeom prst="rect">
            <a:avLst/>
          </a:prstGeom>
          <a:ln/>
        </p:spPr>
      </p:pic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382000" y="3876675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545"/>
                </a:solidFill>
                <a:latin typeface="Microsoft YaHei"/>
                <a:ea typeface="Microsoft YaHei"/>
              </a:rPr>
              <a:t>统一数据处理层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382000" y="4105275"/>
            <a:ext cx="2419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文本解析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上下文挂载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临时缓存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结果输出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3924300" y="4857750"/>
            <a:ext cx="3771900" cy="135255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114800" y="5410200"/>
            <a:ext cx="247650" cy="247650"/>
          </a:xfrm>
          <a:prstGeom prst="rect">
            <a:avLst/>
          </a:prstGeom>
          <a:ln/>
        </p:spPr>
      </p:pic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495800" y="5343525"/>
            <a:ext cx="1857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545"/>
                </a:solidFill>
                <a:latin typeface="Microsoft YaHei"/>
                <a:ea typeface="Microsoft YaHei"/>
              </a:rPr>
              <a:t>统一接口规范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495800" y="5572125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前后端数据格式与状态码同一定义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7810500" y="4857750"/>
            <a:ext cx="3771900" cy="135255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001000" y="5410200"/>
            <a:ext cx="247650" cy="247650"/>
          </a:xfrm>
          <a:prstGeom prst="rect">
            <a:avLst/>
          </a:prstGeom>
          <a:ln/>
        </p:spPr>
      </p:pic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382000" y="5343525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545"/>
                </a:solidFill>
                <a:latin typeface="Microsoft YaHei"/>
                <a:ea typeface="Microsoft YaHei"/>
              </a:rPr>
              <a:t>轻量化底座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382000" y="5572125"/>
            <a:ext cx="2305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适配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2GB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云服务器，控制并发与内存峰值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协助系统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三大功能设计总方案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1125200" y="64198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00" name="" descr="&lt;Slide style={{ width: 1280, height: 720, background: 'linear-gradient(135deg, #0B2545 0%, #123C6E 100%)', padding: '20px 84px' }}&gt;&#10;    &lt;Box style={{ flex: 1, flexDirection: 'column', justifyContent: 'center' }}&gt;&#10;        &lt;Box style={{ flexDirection: 'row', alignItems: 'flex-end', gap: 24 }}&gt;&#10;            &lt;Text style={{ fontSize: 100, fontWeight: 'bold', color: '#00C9A7', lineHeight: 1 }}&gt;02&lt;/Text&gt;&#10;            &lt;Text style={{ fontSize: 64, fontWeight: 'bold', color: '#FFFFFF', lineHeight: 1.1, paddingBottom: 8 }}&gt;三大功能模块&lt;/Text&gt;&#10;        &lt;/Box&gt;&#10;        &lt;Text style={{ fontSize: 20, color: 'rgba(255,255,255,0.78)', marginTop: 28, lineHeight: 1.7 }}&gt;&#10;            同一底座上长出三张页面——两个黑盒工具页，一个全程可视化核心页&#10;        &lt;/Text&gt;&#10;    &lt;/Box&gt;&#10;    &lt;Box style={{ flexDirection: 'row', justifyContent: 'space-between', alignItems: 'center', height: 36 }}&gt;&#10;        &lt;Text style={{ fontSize: 14, color: 'rgba(255,255,255,0.55)' }}&gt;多AI协助系统 · 三大功能设计总方案&lt;/Text&gt;&#10;        &lt;Text style={{ fontSize: 14, color: 'rgba(255,255,255,0.55)' }}&gt;06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123C6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00100" y="2362200"/>
            <a:ext cx="118110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00C9A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2209800" y="2619375"/>
            <a:ext cx="3657600" cy="885825"/>
          </a:xfrm>
          <a:prstGeom prst="rect"/>
        </p:spPr>
        <p:txBody>
          <a:bodyPr wrap="none" lIns="0" tIns="0" rIns="0" bIns="57150"/>
          <a:p>
            <a:pPr>
              <a:lnSpc>
                <a:spcPct val="11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三大功能模块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00100" y="3771900"/>
            <a:ext cx="10591800" cy="3905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同一底座上长出三张页面——两个黑盒工具页，一个全程可视化核心页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00100" y="641985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协助系统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三大功能设计总方案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0934700" y="64198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07" name="" descr="&lt;Slide style={{ width: 1280, height: 720, background: '#FFFFFF', padding: '20px 64px' }}&gt;&#10;    &lt;Box style={{ flexDirection: 'row', alignItems: 'center', gap: 16, height: 100 }}&gt;&#10;        &lt;Box style={{ width: 4, height: 40, background: '#0B2545' }} /&gt;&#10;        &lt;Text style={{ fontSize: 34, fontWeight: 'bold', color: '#0B2545' }}&gt;模块一 · 文档智能 Prompt 生成&lt;/Text&gt;&#10;    &lt;/Box&gt;&#10;    &lt;Box style={{ flexDirection: 'row', gap: 26, height: 520, marginTop: 12 }}&gt;&#10;        &lt;Box style={{ width: 730, height: 520, borderRadius: 16, background: '#F4F7FB', padding: 20, justifyContent: 'center', alignItems: 'center' }}&gt;&#10;            &lt;svg width={690} height={470} viewBox='0 0 690 470'&gt;&#10;                &lt;rect x='0' y='28' width='150' height='210' rx='12' fill='#FFFFFF' stroke='#2E7CF6' strokeWidth='2' /&gt;&#10;                &lt;text x='22' y='62' fontSize='13' fontWeight='bold' fill='#2E7CF6'&gt;STEP 1 · 前置&lt;/text&gt;&#10;                &lt;text x='22' y='94' fontSize='18' fontWeight='bold' fill='#0B2545'&gt;前置解析&lt;/text&gt;&#10;                &lt;line x1='22' y1='112' x2='128' y2='112' stroke='#E2E8F0' strokeWidth='1.5' /&gt;&#10;                &lt;text x='22' y='140' fontSize='13' fill='#64748B'&gt;识别 PDF / Word /&lt;/text&gt;&#10;                &lt;text x='22' y='162' fontSize='13' fill='#64748B'&gt;TXT / PPT 格式&lt;/text&gt;&#10;                &lt;text x='22' y='190' fontSize='13' fill='#64748B'&gt;提取核心内容，&lt;/text&gt;&#10;                &lt;text x='22' y='212' fontSize='13' fill='#64748B'&gt;超长自动截断&lt;/text&gt;&#10;                &lt;line x1='152' y1='133' x2='168' y2='133' stroke='#2E7CF6' strokeWidth='2.5' /&gt;&#10;                &lt;polygon points='166,127 178,133 166,139' fill='#2E7CF6' /&gt;&#10;                &lt;rect x='180' y='28' width='150' height='210' rx='12' fill='#FFFFFF' stroke='#2E7CF6' strokeWidth='2' /&gt;&#10;                &lt;text x='202' y='62' fontSize='13' fontWeight='bold' fill='#2E7CF6'&gt;STEP 2 · 第一棒&lt;/text&gt;&#10;                &lt;text x='202' y='94' fontSize='18' fontWeight='bold' fill='#0B2545'&gt;方案生成&lt;/text&gt;&#10;                &lt;line x1='202' y1='112' x2='308' y2='112' stroke='#E2E8F0' strokeWidth='1.5' /&gt;&#10;                &lt;text x='202' y='140' fontSize='13' fill='#64748B'&gt;官方渠道 AI：&lt;/text&gt;&#10;                &lt;text x='202' y='162' fontSize='13' fill='#64748B'&gt;角色定位 · 任务目标&lt;/text&gt;&#10;                &lt;text x='202' y='190' fontSize='13' fill='#64748B'&gt;输出规范 · 约束&lt;/text&gt;&#10;                &lt;text x='202' y='212' fontSize='13' fill='#64748B'&gt;产出初版 Prompt&lt;/text&gt;&#10;                &lt;line x1='332' y1='133' x2='348' y2='133' stroke='#2E7CF6' strokeWidth='2.5' /&gt;&#10;                &lt;polygon points='346,127 358,133 346,139' fill='#2E7CF6' /&gt;&#10;                &lt;rect x='360' y='28' width='150' height='210' rx='12' fill='#FFFFFF' stroke='#2E7CF6' strokeWidth='2' /&gt;&#10;                &lt;text x='382' y='62' fontSize='13' fontWeight='bold' fill='#2E7CF6'&gt;STEP 3 · 第二棒&lt;/text&gt;&#10;                &lt;text x='382' y='94' fontSize='18' fontWeight='bold' fill='#0B2545'&gt;方案优化&lt;/text&gt;&#10;                &lt;line x1='382' y1='112' x2='488' y2='112' stroke='#E2E8F0' strokeWidth='1.5' /&gt;&#10;                &lt;text x='382' y='140' fontSize='13' fill='#64748B'&gt;中转渠道 AI：&lt;/text&gt;&#10;                &lt;text x='382' y='162' fontSize='13' fill='#64748B'&gt;补约束 · 强指令&lt;/text&gt;&#10;                &lt;text x='382' y='190' fontSize='13' fill='#64748B'&gt;剔冗余 · 提效率&lt;/text&gt;&#10;                &lt;text x='382' y='212' fontSize='13' fill='#64748B'&gt;产出优化版 Prompt&lt;/text&gt;&#10;                &lt;line x1='512' y1='133' x2='528' y2='133' stroke='#2E7CF6' strokeWidth='2.5' /&gt;&#10;                &lt;polygon points='526,127 538,133 526,139' fill='#2E7CF6' /&gt;&#10;                &lt;rect x='540' y='28' width='150' height='210' rx='12' fill='rgba(0,201,167,0.10)' stroke='#00C9A7' strokeWidth='3' /&gt;&#10;                &lt;text x='562' y='62' fontSize='13' fontWeight='bold' fill='#00A88C'&gt;STEP 4 · 第三棒&lt;/text&gt;&#10;                &lt;text x='562' y='94' fontSize='18' fontWeight='bold' fill='#0B2545'&gt;汇总定稿&lt;/text&gt;&#10;                &lt;line x1='562' y1='112' x2='668' y2='112' stroke='rgba(0,201,167,0.4)' strokeWidth='1.5' /&gt;&#10;                &lt;text x='562' y='140' fontSize='13' fill='#0B7A68'&gt;官方渠道 AI 裁决：&lt;/text&gt;&#10;                &lt;text x='562' y='162' fontSize='13' fill='#0B7A68'&gt;是否匹配需求 ·&lt;/text&gt;&#10;                &lt;text x='562' y='184' fontSize='13' fill='#0B7A68'&gt;覆盖核心 · 无歧义&lt;/text&gt;&#10;                &lt;text x='562' y='212' fontSize='13' fill='#0B7A68'&gt;合格即最终输出&lt;/text&gt;&#10;                &lt;line x1='345' y1='244' x2='345' y2='276' stroke='#64748B' strokeWidth='2' strokeDasharray='5 4' /&gt;&#10;                &lt;rect x='60' y='280' width='570' height='86' rx='10' fill='#FFFFFF' stroke='#64748B' strokeWidth='1.5' strokeDasharray='6 4' /&gt;&#10;                &lt;text x='90' y='316' fontSize='15' fontWeight='bold' fill='#0B2545'&gt;异常兜底&lt;/text&gt;&#10;                &lt;text x='90' y='344' fontSize='13.5' fill='#64748B'&gt;任一环节输出为空 → 自动重试 1 次 → 仍失败则降级调用备用 AI，保障输出稳定&lt;/text&gt;&#10;                &lt;text x='0' y='412' fontSize='14' fill='#64748B'&gt;全链路串行调用——单时刻仅占用 1 个 AI 连接，降低并发资源消耗&lt;/text&gt;&#10;                &lt;text x='0' y='440' fontSize='14' fill='#64748B'&gt;中间结果仅在链路中临时传递，完成即释放，不落库持久化&lt;/text&gt;&#10;            &lt;/svg&gt;&#10;        &lt;/Box&gt;&#10;        &lt;Box style={{ flex: 1, flexDirection: 'column', justifyContent: 'center', gap: 18 }}&gt;&#10;            &lt;Text style={{ fontSize: 22, fontWeight: 'bold', color: '#0B2545' }}&gt;核心定位&lt;/Text&gt;&#10;            &lt;Text style={{ fontSize: 16, color: '#14202E', lineHeight: 1.7 }}&gt;&#10;                用户上传文档并描述业务需求，3 个固定 AI 角色串行协作、逐级迭代，最终输出可直接调用的高质量标准化 Prompt——全程隐藏调用过程与中间链路。&#10;            &lt;/Text&gt;&#10;            &lt;Box style={{ flexDirection: 'row', alignItems: 'center', gap: 12 }}&gt;&#10;                &lt;FAIcon name='eye-slash' style={{ fill: '#2E7CF6', width: 24, height: 24 }} /&gt;&#10;                &lt;Text style={{ fontSize: 15.5, color: '#14202E', lineHeight: 1.5 }}&gt;黑盒工具页：不展示 AI 列表与中间版本&lt;/Text&gt;&#10;            &lt;/Box&gt;&#10;            &lt;Box style={{ flexDirection: 'row', alignItems: 'center', gap: 12 }}&gt;&#10;                &lt;FAIcon name='copy' style={{ fill: '#2E7CF6', width: 24, height: 24 }} /&gt;&#10;                &lt;Text style={{ fontSize: 15.5, color: '#14202E', lineHeight: 1.5 }}&gt;一键复制：仅呈现最终结果与生成状态&lt;/Text&gt;&#10;            &lt;/Box&gt;&#10;            &lt;Box style={{ flexDirection: 'row', alignItems: 'center', gap: 12 }}&gt;&#10;                &lt;FAIcon name='history' style={{ fill: '#00C9A7', width: 24, height: 24 }} /&gt;&#10;                &lt;Text style={{ fontSize: 15.5, color: '#14202E', lineHeight: 1.5 }}&gt;历史记录：轻量化存储与查看&lt;/Text&gt;&#10;            &lt;/Box&gt;&#10;        &lt;/Box&gt;&#10;    &lt;/Box&gt;&#10;    &lt;Box style={{ flexDirection: 'row', justifyContent: 'space-between', alignItems: 'center', height: 36, marginTop: 12 }}&gt;&#10;        &lt;Text style={{ fontSize: 14, color: '#64748B' }}&gt;多AI协助系统 · 三大功能设计总方案&lt;/Text&gt;&#10;        &lt;Text style={{ fontSize: 14, color: '#64748B' }}&gt;07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609600" y="476250"/>
            <a:ext cx="38100" cy="381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4676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模块一</a:t>
            </a:r>
            <a:r>
              <a:rPr lang="en-US" sz="2550" b="1">
                <a:solidFill>
                  <a:srgbClr val="0B2545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文档智能</a:t>
            </a:r>
            <a:r>
              <a:rPr lang="en-US" sz="2550" b="1">
                <a:solidFill>
                  <a:srgbClr val="0B2545"/>
                </a:solidFill>
                <a:latin typeface="Microsoft YaHei"/>
                <a:ea typeface="Microsoft YaHei"/>
              </a:rPr>
              <a:t> Prompt </a:t>
            </a: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生成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09600" y="1257300"/>
            <a:ext cx="6953250" cy="495300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495425"/>
            <a:ext cx="6572250" cy="4476750"/>
          </a:xfrm>
          <a:prstGeom prst="rect">
            <a:avLst/>
          </a:prstGeom>
          <a:ln/>
        </p:spPr>
      </p:pic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810500" y="2400300"/>
            <a:ext cx="3771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核心定位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810500" y="2828925"/>
            <a:ext cx="3771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用户上传文档并描述业务需求，</a:t>
            </a:r>
            <a:r>
              <a:rPr lang="en-US" sz="1200">
                <a:solidFill>
                  <a:srgbClr val="14202E"/>
                </a:solidFill>
                <a:latin typeface="Microsoft YaHei"/>
                <a:ea typeface="Microsoft YaHei"/>
              </a:rPr>
              <a:t>3 </a:t>
            </a: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个固定</a:t>
            </a:r>
            <a:r>
              <a:rPr lang="en-US" sz="1200">
                <a:solidFill>
                  <a:srgbClr val="14202E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角色串行协作、逐级迭代，最终输出可直接调用的高质量标准化</a:t>
            </a:r>
            <a:r>
              <a:rPr lang="en-US" sz="1200">
                <a:solidFill>
                  <a:srgbClr val="14202E"/>
                </a:solidFill>
                <a:latin typeface="Microsoft YaHei"/>
                <a:ea typeface="Microsoft YaHei"/>
              </a:rPr>
              <a:t> Prompt——</a:t>
            </a: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全程隐藏调用过程与中间链路。</a:t>
            </a:r>
            <a:endParaRPr/>
          </a:p>
        </p:txBody>
      </p:sp>
      <p:pic>
        <p:nvPicPr>
          <p:cNvPr id="2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810500" y="3952875"/>
            <a:ext cx="228600" cy="228600"/>
          </a:xfrm>
          <a:prstGeom prst="rect">
            <a:avLst/>
          </a:prstGeom>
          <a:ln/>
        </p:spPr>
      </p:pic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153400" y="3933825"/>
            <a:ext cx="260032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14202E"/>
                </a:solidFill>
                <a:latin typeface="Microsoft YaHei"/>
                <a:ea typeface="Microsoft YaHei"/>
              </a:rPr>
              <a:t>黑盒工具页：不展示</a:t>
            </a:r>
            <a:r>
              <a:rPr lang="en-US" sz="1163">
                <a:solidFill>
                  <a:srgbClr val="14202E"/>
                </a:solidFill>
                <a:latin typeface="Microsoft YaHei"/>
                <a:ea typeface="Microsoft YaHei"/>
              </a:rPr>
              <a:t> AI </a:t>
            </a:r>
            <a:r>
              <a:rPr lang="zh-CN" sz="1163">
                <a:solidFill>
                  <a:srgbClr val="14202E"/>
                </a:solidFill>
                <a:latin typeface="Microsoft YaHei"/>
                <a:ea typeface="Microsoft YaHei"/>
              </a:rPr>
              <a:t>列表与中间版本</a:t>
            </a:r>
            <a:endParaRPr/>
          </a:p>
        </p:txBody>
      </p:sp>
      <p:pic>
        <p:nvPicPr>
          <p:cNvPr id="2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810500" y="4391025"/>
            <a:ext cx="228600" cy="228600"/>
          </a:xfrm>
          <a:prstGeom prst="rect">
            <a:avLst/>
          </a:prstGeom>
          <a:ln/>
        </p:spPr>
      </p:pic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153400" y="4371975"/>
            <a:ext cx="2514600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14202E"/>
                </a:solidFill>
                <a:latin typeface="Microsoft YaHei"/>
                <a:ea typeface="Microsoft YaHei"/>
              </a:rPr>
              <a:t>一键复制：仅呈现最终结果与生成状态</a:t>
            </a:r>
            <a:endParaRPr/>
          </a:p>
        </p:txBody>
      </p:sp>
      <p:pic>
        <p:nvPicPr>
          <p:cNvPr id="2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810500" y="4829175"/>
            <a:ext cx="228600" cy="228600"/>
          </a:xfrm>
          <a:prstGeom prst="rect">
            <a:avLst/>
          </a:prstGeom>
          <a:ln/>
        </p:spPr>
      </p:pic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153400" y="4810125"/>
            <a:ext cx="1924050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14202E"/>
                </a:solidFill>
                <a:latin typeface="Microsoft YaHei"/>
                <a:ea typeface="Microsoft YaHei"/>
              </a:rPr>
              <a:t>历史记录：轻量化存储与查看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协助系统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三大功能设计总方案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1125200" y="64198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23" name="" descr="&lt;Slide style={{ width: 1280, height: 720, background: '#FFFFFF', padding: '20px 64px' }}&gt;&#10;    &lt;Box style={{ flexDirection: 'row', alignItems: 'center', gap: 16, height: 100 }}&gt;&#10;        &lt;Box style={{ width: 4, height: 40, background: '#0B2545' }} /&gt;&#10;        &lt;Text style={{ fontSize: 34, fontWeight: 'bold', color: '#0B2545' }}&gt;模块二 · 多 AI 自动讨论 + 裁判打分监管&lt;/Text&gt;&#10;    &lt;/Box&gt;&#10;    &lt;Box style={{ flexDirection: 'row', gap: 30, height: 520, marginTop: 12 }}&gt;&#10;        &lt;Box style={{ width: 645, height: 520, borderRadius: 16, overflow: 'hidden' }}&gt;&#10;            &lt;Image src='assets/discussion_arena.png' style={{ width: 645, height: 520, objectFit: 'cover' }} /&gt;&#10;        &lt;/Box&gt;&#10;        &lt;Box style={{ flex: 1, flexDirection: 'column', justifyContent: 'center', gap: 18 }}&gt;&#10;            &lt;Text style={{ fontSize: 16, fontWeight: 'bold', color: '#00C9A7', letterSpacing: 2 }}&gt;核心交互页 · 全程可视化&lt;/Text&gt;&#10;            &lt;Text style={{ fontSize: 26, fontWeight: 'bold', color: '#0B2545', lineHeight: 1.4 }}&gt;8 个 AI 轮流讨论，3 类裁判全程监管&lt;/Text&gt;&#10;            &lt;Text style={{ fontSize: 16, color: '#14202E', lineHeight: 1.7 }}&gt;&#10;                用户输入话题后，8 个 AI 自主轮流出镜讨论；每条发言都被实时校验、动态打分——这是平台唯一开放全过程可视化的页面。&#10;            &lt;/Text&gt;&#10;            &lt;Box style={{ flexDirection: 'row', gap: 28, marginTop: 4 }}&gt;&#10;                &lt;Box style={{ flexDirection: 'column', gap: 4 }}&gt;&#10;                    &lt;Text style={{ fontSize: 40, fontWeight: 'bold', color: '#00C9A7', lineHeight: 1.1 }}&gt;8&lt;/Text&gt;&#10;                    &lt;Text style={{ fontSize: 14, color: '#64748B' }}&gt;参与 AI 自主轮询&lt;/Text&gt;&#10;                &lt;/Box&gt;&#10;                &lt;Box style={{ flexDirection: 'column', gap: 4 }}&gt;&#10;                    &lt;Text style={{ fontSize: 40, fontWeight: 'bold', color: '#00C9A7', lineHeight: 1.1 }}&gt;3&lt;/Text&gt;&#10;                    &lt;Text style={{ fontSize: 14, color: '#64748B' }}&gt;类专属裁判监管&lt;/Text&gt;&#10;                &lt;/Box&gt;&#10;                &lt;Box style={{ flexDirection: 'column', gap: 4 }}&gt;&#10;                    &lt;Text style={{ fontSize: 40, fontWeight: 'bold', color: '#00C9A7', lineHeight: 1.1 }}&gt;2 轮&lt;/Text&gt;&#10;                    &lt;Text style={{ fontSize: 14, color: '#64748B' }}&gt;末位触发临时禁言&lt;/Text&gt;&#10;                &lt;/Box&gt;&#10;            &lt;/Box&gt;&#10;            &lt;Box style={{ borderLeft: '3px solid #00C9A7', paddingLeft: 14, marginTop: 6 }}&gt;&#10;                &lt;Text style={{ fontSize: 15, color: '#64748B', lineHeight: 1.65 }}&gt;&#10;                    排名不是装饰——低贡献模型会被自然请出场，讨论质量因此可控。&#10;                &lt;/Text&gt;&#10;            &lt;/Box&gt;&#10;        &lt;/Box&gt;&#10;    &lt;/Box&gt;&#10;    &lt;Box style={{ flexDirection: 'row', justifyContent: 'space-between', alignItems: 'center', height: 36, marginTop: 12 }}&gt;&#10;        &lt;Text style={{ fontSize: 14, color: '#64748B' }}&gt;多AI协助系统 · 三大功能设计总方案&lt;/Text&gt;&#10;        &lt;Text style={{ fontSize: 14, color: '#64748B' }}&gt;08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609600" y="476250"/>
            <a:ext cx="38100" cy="381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5857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模块二</a:t>
            </a:r>
            <a:r>
              <a:rPr lang="en-US" sz="2550" b="1">
                <a:solidFill>
                  <a:srgbClr val="0B2545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多</a:t>
            </a:r>
            <a:r>
              <a:rPr lang="en-US" sz="2550" b="1">
                <a:solidFill>
                  <a:srgbClr val="0B2545"/>
                </a:solidFill>
                <a:latin typeface="Microsoft YaHei"/>
                <a:ea typeface="Microsoft YaHei"/>
              </a:rPr>
              <a:t> AI </a:t>
            </a: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自动讨论</a:t>
            </a:r>
            <a:r>
              <a:rPr lang="en-US" sz="2550" b="1">
                <a:solidFill>
                  <a:srgbClr val="0B2545"/>
                </a:solidFill>
                <a:latin typeface="Microsoft YaHei"/>
                <a:ea typeface="Microsoft YaHei"/>
              </a:rPr>
              <a:t> + </a:t>
            </a: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裁判打分监管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09600" y="1257300"/>
            <a:ext cx="6143625" cy="4953000"/>
          </a:xfrm>
          <a:prstGeom prst="roundRect">
            <a:avLst>
              <a:gd name="adj" fmla="val 3077"/>
            </a:avLst>
          </a:prstGeom>
          <a:ln/>
        </p:spPr>
        <p:txBody>
          <a:bodyPr/>
          <a:p/>
        </p:txBody>
      </p:sp>
      <p:pic>
        <p:nvPicPr>
          <p:cNvPr id="228" name=""/>
          <p:cNvPicPr>
            <a:picLocks noChangeAspect="1"/>
          </p:cNvPicPr>
          <p:nvPr/>
        </p:nvPicPr>
        <p:blipFill>
          <a:blip r:embed="rId1"/>
          <a:srcRect l="10727" t="0" r="10727" b="0"/>
          <a:stretch>
            <a:fillRect/>
          </a:stretch>
        </p:blipFill>
        <p:spPr>
          <a:xfrm rot="0" flipH="0" flipV="0">
            <a:off x="609600" y="1257300"/>
            <a:ext cx="6143625" cy="4953000"/>
          </a:xfrm>
          <a:custGeom>
            <a:pathLst>
              <a:path w="645" h="520">
                <a:moveTo>
                  <a:pt x="629" y="0"/>
                </a:moveTo>
                <a:cubicBezTo>
                  <a:pt x="638" y="0"/>
                  <a:pt x="645" y="7"/>
                  <a:pt x="645" y="16"/>
                </a:cubicBezTo>
                <a:lnTo>
                  <a:pt x="645" y="504"/>
                </a:lnTo>
                <a:cubicBezTo>
                  <a:pt x="645" y="513"/>
                  <a:pt x="638" y="520"/>
                  <a:pt x="629" y="520"/>
                </a:cubicBezTo>
                <a:lnTo>
                  <a:pt x="16" y="520"/>
                </a:lnTo>
                <a:cubicBezTo>
                  <a:pt x="7" y="520"/>
                  <a:pt x="0" y="513"/>
                  <a:pt x="0" y="50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629" y="0"/>
                </a:lnTo>
                <a:close/>
              </a:path>
            </a:pathLst>
          </a:custGeom>
          <a:ln/>
        </p:spPr>
      </p:pic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038975" y="2228850"/>
            <a:ext cx="4543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00C9A7"/>
                </a:solidFill>
                <a:latin typeface="Microsoft YaHei"/>
                <a:ea typeface="Microsoft YaHei"/>
              </a:rPr>
              <a:t>核心交互页</a:t>
            </a:r>
            <a:r>
              <a:rPr lang="en-US" sz="1200" b="1" spc="150">
                <a:solidFill>
                  <a:srgbClr val="00C9A7"/>
                </a:solidFill>
                <a:latin typeface="Microsoft YaHei"/>
                <a:ea typeface="Microsoft YaHei"/>
              </a:rPr>
              <a:t> · </a:t>
            </a:r>
            <a:r>
              <a:rPr lang="zh-CN" sz="1200" b="1" spc="150">
                <a:solidFill>
                  <a:srgbClr val="00C9A7"/>
                </a:solidFill>
                <a:latin typeface="Microsoft YaHei"/>
                <a:ea typeface="Microsoft YaHei"/>
              </a:rPr>
              <a:t>全程可视化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038975" y="2590800"/>
            <a:ext cx="4543425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950" b="1">
                <a:solidFill>
                  <a:srgbClr val="0B2545"/>
                </a:solidFill>
                <a:latin typeface="Microsoft YaHei"/>
                <a:ea typeface="Microsoft YaHei"/>
              </a:rPr>
              <a:t>8 </a:t>
            </a:r>
            <a:r>
              <a:rPr lang="zh-CN" sz="1950" b="1">
                <a:solidFill>
                  <a:srgbClr val="0B2545"/>
                </a:solidFill>
                <a:latin typeface="Microsoft YaHei"/>
                <a:ea typeface="Microsoft YaHei"/>
              </a:rPr>
              <a:t>个</a:t>
            </a:r>
            <a:r>
              <a:rPr lang="en-US" sz="1950" b="1">
                <a:solidFill>
                  <a:srgbClr val="0B2545"/>
                </a:solidFill>
                <a:latin typeface="Microsoft YaHei"/>
                <a:ea typeface="Microsoft YaHei"/>
              </a:rPr>
              <a:t> AI </a:t>
            </a:r>
            <a:r>
              <a:rPr lang="zh-CN" sz="1950" b="1">
                <a:solidFill>
                  <a:srgbClr val="0B2545"/>
                </a:solidFill>
                <a:latin typeface="Microsoft YaHei"/>
                <a:ea typeface="Microsoft YaHei"/>
              </a:rPr>
              <a:t>轮流讨论，</a:t>
            </a:r>
            <a:r>
              <a:rPr lang="en-US" sz="1950" b="1">
                <a:solidFill>
                  <a:srgbClr val="0B2545"/>
                </a:solidFill>
                <a:latin typeface="Microsoft YaHei"/>
                <a:ea typeface="Microsoft YaHei"/>
              </a:rPr>
              <a:t>3 </a:t>
            </a:r>
            <a:r>
              <a:rPr lang="zh-CN" sz="1950" b="1">
                <a:solidFill>
                  <a:srgbClr val="0B2545"/>
                </a:solidFill>
                <a:latin typeface="Microsoft YaHei"/>
                <a:ea typeface="Microsoft YaHei"/>
              </a:rPr>
              <a:t>类裁判全程监管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038975" y="3181350"/>
            <a:ext cx="45434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用户输入话题后，</a:t>
            </a:r>
            <a:r>
              <a:rPr lang="en-US" sz="1200">
                <a:solidFill>
                  <a:srgbClr val="14202E"/>
                </a:solidFill>
                <a:latin typeface="Microsoft YaHei"/>
                <a:ea typeface="Microsoft YaHei"/>
              </a:rPr>
              <a:t>8 </a:t>
            </a: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个</a:t>
            </a:r>
            <a:r>
              <a:rPr lang="en-US" sz="1200">
                <a:solidFill>
                  <a:srgbClr val="14202E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自主轮流出镜讨论；每条发言都被实时校验、动态打分——这是平台唯一开放全过程可视化的页面。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038975" y="4019550"/>
            <a:ext cx="1019175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0C9A7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038975" y="4562475"/>
            <a:ext cx="101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参与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自主轮询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324850" y="4019550"/>
            <a:ext cx="93345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0C9A7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324850" y="45624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类专属裁判监管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9525000" y="4019550"/>
            <a:ext cx="1066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0C9A7"/>
                </a:solidFill>
                <a:latin typeface="Microsoft YaHei"/>
                <a:ea typeface="Microsoft YaHei"/>
              </a:rPr>
              <a:t>2 </a:t>
            </a:r>
            <a:r>
              <a:rPr lang="zh-CN" sz="3000" b="1">
                <a:solidFill>
                  <a:srgbClr val="00C9A7"/>
                </a:solidFill>
                <a:latin typeface="Microsoft YaHei"/>
                <a:ea typeface="Microsoft YaHei"/>
              </a:rPr>
              <a:t>轮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9525000" y="45624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末位触发临时禁言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7038975" y="4953000"/>
            <a:ext cx="4572000" cy="285750"/>
          </a:xfrm>
          <a:custGeom>
            <a:pathLst>
              <a:path w="480" h="30">
                <a:moveTo>
                  <a:pt x="0" y="0"/>
                </a:moveTo>
                <a:lnTo>
                  <a:pt x="3" y="0"/>
                </a:lnTo>
                <a:lnTo>
                  <a:pt x="3" y="30"/>
                </a:lnTo>
                <a:lnTo>
                  <a:pt x="0" y="30"/>
                </a:lnTo>
                <a:close/>
              </a:path>
            </a:pathLst>
          </a:custGeom>
          <a:solidFill>
            <a:srgbClr val="00C9A7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200900" y="4953000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排名不是装饰——低贡献模型会被自然请出场，讨论质量因此可控。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协助系统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三大功能设计总方案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1125200" y="64198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42" name="" descr="&lt;Slide style={{ width: 1280, height: 720, background: '#FFFFFF', padding: '20px 64px' }}&gt;&#10;    &lt;Box style={{ flexDirection: 'row', alignItems: 'center', gap: 16, height: 100 }}&gt;&#10;        &lt;Box style={{ width: 4, height: 40, background: '#0B2545' }} /&gt;&#10;        &lt;Text style={{ fontSize: 34, fontWeight: 'bold', color: '#0B2545' }}&gt;三类裁判分工机制&lt;/Text&gt;&#10;    &lt;/Box&gt;&#10;    &lt;Box style={{ flexDirection: 'row', gap: 28, height: 520, marginTop: 12 }}&gt;&#10;        &lt;Box style={{ width: 300, height: 520, flexDirection: 'column', justifyContent: 'center', gap: 18 }}&gt;&#10;            &lt;Text style={{ fontSize: 24, fontWeight: 'bold', color: '#0B2545', lineHeight: 1.4 }}&gt;三条裁判线并行，互不阻塞&lt;/Text&gt;&#10;            &lt;Text style={{ fontSize: 16, color: '#14202E', lineHeight: 1.75 }}&gt;&#10;                一条管「说没说错」，一条管「谁来说、能不能说」，一条管「结论与排名」。&#10;            &lt;/Text&gt;&#10;            &lt;Text style={{ fontSize: 16, color: '#14202E', lineHeight: 1.75 }}&gt;&#10;                裁判逻辑异步执行，不拖慢主讨论的发言节奏。&#10;            &lt;/Text&gt;&#10;        &lt;/Box&gt;&#10;        &lt;Box style={{ flex: 1, flexDirection: 'column', gap: 14 }}&gt;&#10;            &lt;Box style={{ flex: 1, borderRadius: 12, background: '#F4F7FB', padding: '20px 26px', flexDirection: 'column', justifyContent: 'space-between' }}&gt;&#10;                &lt;Box style={{ flexDirection: 'row', alignItems: 'center', gap: 14 }}&gt;&#10;                    &lt;FAIcon name='eye' style={{ fill: '#2E7CF6', width: 28, height: 28 }} /&gt;&#10;                    &lt;Text style={{ fontSize: 19, fontWeight: 'bold', color: '#0B2545' }}&gt;实时监督裁判&lt;/Text&gt;&#10;                    &lt;Box style={{ background: 'rgba(46,124,246,0.10)', borderRadius: 999, padding: '5px 14px', marginLeft: 8 }}&gt;&#10;                        &lt;Text style={{ fontSize: 13, color: '#2E7CF6' }}&gt;每条发言生成后实时执行&lt;/Text&gt;&#10;                    &lt;/Box&gt;&#10;                &lt;/Box&gt;&#10;                &lt;Text style={{ fontSize: 15, color: '#14202E', lineHeight: 1.6 }}&gt;发言异常检测 · 违规判定 · 触发纠错流程&lt;/Text&gt;&#10;                &lt;Text style={{ fontSize: 13.5, color: '#64748B' }}&gt;输出 → JSON 格式：异常判定 + 简短理由&lt;/Text&gt;&#10;            &lt;/Box&gt;&#10;            &lt;Box style={{ flex: 1, borderRadius: 12, background: '#F4F7FB', padding: '20px 26px', flexDirection: 'column', justifyContent: 'space-between' }}&gt;&#10;                &lt;Box style={{ flexDirection: 'row', alignItems: 'center', gap: 14 }}&gt;&#10;                    &lt;FAIcon name='gavel' style={{ fill: '#2E7CF6', width: 28, height: 28 }} /&gt;&#10;                    &lt;Text style={{ fontSize: 19, fontWeight: 'bold', color: '#0B2545' }}&gt;秩序裁判&lt;/Text&gt;&#10;                    &lt;Box style={{ background: 'rgba(46,124,246,0.10)', borderRadius: 999, padding: '5px 14px', marginLeft: 8 }}&gt;&#10;                        &lt;Text style={{ fontSize: 13, color: '#2E7CF6' }}&gt;全流程持续运行&lt;/Text&gt;&#10;                    &lt;/Box&gt;&#10;                &lt;/Box&gt;&#10;                &lt;Text style={{ fontSize: 15, color: '#14202E', lineHeight: 1.6 }}&gt;发言顺序管控 · 弹劾流程执行 · 禁言状态管理 · 计分榜更新&lt;/Text&gt;&#10;                &lt;Text style={{ fontSize: 13.5, color: '#64748B' }}&gt;输出 → 结构化状态数据，实时同步前端展示&lt;/Text&gt;&#10;            &lt;/Box&gt;&#10;            &lt;Box style={{ flex: 1, borderRadius: 12, background: 'rgba(0,201,167,0.10)', border: '2px solid #00C9A7', padding: '20px 26px', flexDirection: 'column', justifyContent: 'space-between' }}&gt;&#10;                &lt;Box style={{ flexDirection: 'row', alignItems: 'center', gap: 14 }}&gt;&#10;                    &lt;FAIcon name='award' style={{ fill: '#00A88C', width: 28, height: 28 }} /&gt;&#10;                    &lt;Text style={{ fontSize: 19, fontWeight: 'bold', color: '#0B2545' }}&gt;最终评价裁判&lt;/Text&gt;&#10;                    &lt;Box style={{ background: 'rgba(0,201,167,0.18)', borderRadius: 999, padding: '5px 14px', marginLeft: 8 }}&gt;&#10;                        &lt;Text style={{ fontSize: 13, color: '#00A88C' }}&gt;讨论尾段及结束时执行&lt;/Text&gt;&#10;                    &lt;/Box&gt;&#10;                &lt;/Box&gt;&#10;                &lt;Text style={{ fontSize: 15, color: '#14202E', lineHeight: 1.6 }}&gt;共识判定 · 贡献度排名 · 质量评估 · 最终总结&lt;/Text&gt;&#10;                &lt;Text style={{ fontSize: 13.5, color: '#0B7A68' }}&gt;输出 → Markdown 报告：评分、排名、结论、建议&lt;/Text&gt;&#10;            &lt;/Box&gt;&#10;        &lt;/Box&gt;&#10;    &lt;/Box&gt;&#10;    &lt;Box style={{ flexDirection: 'row', justifyContent: 'space-between', alignItems: 'center', height: 36, marginTop: 12 }}&gt;&#10;        &lt;Text style={{ fontSize: 14, color: '#64748B' }}&gt;多AI协助系统 · 三大功能设计总方案&lt;/Text&gt;&#10;        &lt;Text style={{ fontSize: 14, color: '#64748B' }}&gt;09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609600" y="476250"/>
            <a:ext cx="38100" cy="381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三类裁判分工机制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09600" y="2724150"/>
            <a:ext cx="28575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B2545"/>
                </a:solidFill>
                <a:latin typeface="Microsoft YaHei"/>
                <a:ea typeface="Microsoft YaHei"/>
              </a:rPr>
              <a:t>三条裁判线并行，互不阻塞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3286125"/>
            <a:ext cx="2857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一条管「说没说错」，一条管「谁来说、能不能说」，一条管「结论与排名」。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09600" y="4105275"/>
            <a:ext cx="2857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裁判逻辑异步执行，不拖慢主讨论的发言节奏。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3733800" y="1257300"/>
            <a:ext cx="7848600" cy="1562100"/>
          </a:xfrm>
          <a:prstGeom prst="roundRect">
            <a:avLst>
              <a:gd name="adj" fmla="val 7317"/>
            </a:avLst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81450" y="1447800"/>
            <a:ext cx="266700" cy="266700"/>
          </a:xfrm>
          <a:prstGeom prst="rect">
            <a:avLst/>
          </a:prstGeom>
          <a:ln/>
        </p:spPr>
      </p:pic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4381500" y="147637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2545"/>
                </a:solidFill>
                <a:latin typeface="Microsoft YaHei"/>
                <a:ea typeface="Microsoft YaHei"/>
              </a:rPr>
              <a:t>实时监督裁判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5676900" y="1457325"/>
            <a:ext cx="1628775" cy="247650"/>
          </a:xfrm>
          <a:prstGeom prst="roundRect">
            <a:avLst>
              <a:gd name="adj" fmla="val 3842308"/>
            </a:avLst>
          </a:prstGeom>
          <a:solidFill>
            <a:srgbClr val="2E7CF6">
              <a:alpha val="10000"/>
            </a:srgbClr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810250" y="1504950"/>
            <a:ext cx="1362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E7CF6"/>
                </a:solidFill>
                <a:latin typeface="Microsoft YaHei"/>
                <a:ea typeface="Microsoft YaHei"/>
              </a:rPr>
              <a:t>每条发言生成后实时执行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3981450" y="1952625"/>
            <a:ext cx="7353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发言异常检测</a:t>
            </a:r>
            <a:r>
              <a:rPr lang="en-US" sz="1125">
                <a:solidFill>
                  <a:srgbClr val="14202E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违规判定</a:t>
            </a:r>
            <a:r>
              <a:rPr lang="en-US" sz="1125">
                <a:solidFill>
                  <a:srgbClr val="14202E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触发纠错流程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3981450" y="2466975"/>
            <a:ext cx="7353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输出</a:t>
            </a:r>
            <a:r>
              <a:rPr lang="en-US" sz="1013">
                <a:solidFill>
                  <a:srgbClr val="64748B"/>
                </a:solidFill>
                <a:latin typeface="Microsoft YaHei"/>
                <a:ea typeface="Microsoft YaHei"/>
              </a:rPr>
              <a:t> → JSON </a:t>
            </a: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格式：异常判定</a:t>
            </a:r>
            <a:r>
              <a:rPr lang="en-US" sz="1013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简短理由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3733800" y="2952750"/>
            <a:ext cx="7848600" cy="1562100"/>
          </a:xfrm>
          <a:prstGeom prst="roundRect">
            <a:avLst>
              <a:gd name="adj" fmla="val 7317"/>
            </a:avLst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81450" y="3143250"/>
            <a:ext cx="266700" cy="266700"/>
          </a:xfrm>
          <a:prstGeom prst="rect">
            <a:avLst/>
          </a:prstGeom>
          <a:ln/>
        </p:spPr>
      </p:pic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4381500" y="31718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2545"/>
                </a:solidFill>
                <a:latin typeface="Microsoft YaHei"/>
                <a:ea typeface="Microsoft YaHei"/>
              </a:rPr>
              <a:t>秩序裁判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5314950" y="3152775"/>
            <a:ext cx="1133475" cy="247650"/>
          </a:xfrm>
          <a:prstGeom prst="roundRect">
            <a:avLst>
              <a:gd name="adj" fmla="val 3842308"/>
            </a:avLst>
          </a:prstGeom>
          <a:solidFill>
            <a:srgbClr val="2E7CF6">
              <a:alpha val="10000"/>
            </a:srgbClr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448300" y="32004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E7CF6"/>
                </a:solidFill>
                <a:latin typeface="Microsoft YaHei"/>
                <a:ea typeface="Microsoft YaHei"/>
              </a:rPr>
              <a:t>全流程持续运行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981450" y="3648075"/>
            <a:ext cx="7353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发言顺序管控</a:t>
            </a:r>
            <a:r>
              <a:rPr lang="en-US" sz="1125">
                <a:solidFill>
                  <a:srgbClr val="14202E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弹劾流程执行</a:t>
            </a:r>
            <a:r>
              <a:rPr lang="en-US" sz="1125">
                <a:solidFill>
                  <a:srgbClr val="14202E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禁言状态管理</a:t>
            </a:r>
            <a:r>
              <a:rPr lang="en-US" sz="1125">
                <a:solidFill>
                  <a:srgbClr val="14202E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计分榜更新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3981450" y="4162425"/>
            <a:ext cx="7353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输出</a:t>
            </a:r>
            <a:r>
              <a:rPr lang="en-US" sz="1013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结构化状态数据，实时同步前端展示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3733800" y="4648200"/>
            <a:ext cx="7848600" cy="1562100"/>
          </a:xfrm>
          <a:prstGeom prst="roundRect">
            <a:avLst>
              <a:gd name="adj" fmla="val 7317"/>
            </a:avLst>
          </a:prstGeom>
          <a:solidFill>
            <a:srgbClr val="00C9A7">
              <a:alpha val="10000"/>
            </a:srgbClr>
          </a:solidFill>
          <a:ln w="25400">
            <a:solidFill>
              <a:srgbClr val="00C9A7"/>
            </a:solidFill>
            <a:prstDash val="solid"/>
          </a:ln>
        </p:spPr>
        <p:txBody>
          <a:bodyPr/>
          <a:p/>
        </p:txBody>
      </p:sp>
      <p:pic>
        <p:nvPicPr>
          <p:cNvPr id="2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81450" y="4838700"/>
            <a:ext cx="266700" cy="266700"/>
          </a:xfrm>
          <a:prstGeom prst="rect">
            <a:avLst/>
          </a:prstGeom>
          <a:ln/>
        </p:spPr>
      </p:pic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381500" y="486727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2545"/>
                </a:solidFill>
                <a:latin typeface="Microsoft YaHei"/>
                <a:ea typeface="Microsoft YaHei"/>
              </a:rPr>
              <a:t>最终评价裁判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5676900" y="4848225"/>
            <a:ext cx="1504950" cy="247650"/>
          </a:xfrm>
          <a:prstGeom prst="roundRect">
            <a:avLst>
              <a:gd name="adj" fmla="val 3842308"/>
            </a:avLst>
          </a:prstGeom>
          <a:solidFill>
            <a:srgbClr val="00C9A7">
              <a:alpha val="18000"/>
            </a:srgbClr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5810250" y="48958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0A88C"/>
                </a:solidFill>
                <a:latin typeface="Microsoft YaHei"/>
                <a:ea typeface="Microsoft YaHei"/>
              </a:rPr>
              <a:t>讨论尾段及结束时执行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3981450" y="5343525"/>
            <a:ext cx="7353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共识判定</a:t>
            </a:r>
            <a:r>
              <a:rPr lang="en-US" sz="1125">
                <a:solidFill>
                  <a:srgbClr val="14202E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贡献度排名</a:t>
            </a:r>
            <a:r>
              <a:rPr lang="en-US" sz="1125">
                <a:solidFill>
                  <a:srgbClr val="14202E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质量评估</a:t>
            </a:r>
            <a:r>
              <a:rPr lang="en-US" sz="1125">
                <a:solidFill>
                  <a:srgbClr val="14202E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最终总结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3981450" y="5857875"/>
            <a:ext cx="7353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0B7A68"/>
                </a:solidFill>
                <a:latin typeface="Microsoft YaHei"/>
                <a:ea typeface="Microsoft YaHei"/>
              </a:rPr>
              <a:t>输出</a:t>
            </a:r>
            <a:r>
              <a:rPr lang="en-US" sz="1013">
                <a:solidFill>
                  <a:srgbClr val="0B7A68"/>
                </a:solidFill>
                <a:latin typeface="Microsoft YaHei"/>
                <a:ea typeface="Microsoft YaHei"/>
              </a:rPr>
              <a:t> → Markdown </a:t>
            </a:r>
            <a:r>
              <a:rPr lang="zh-CN" sz="1013">
                <a:solidFill>
                  <a:srgbClr val="0B7A68"/>
                </a:solidFill>
                <a:latin typeface="Microsoft YaHei"/>
                <a:ea typeface="Microsoft YaHei"/>
              </a:rPr>
              <a:t>报告：评分、排名、结论、建议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协助系统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三大功能设计总方案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125200" y="64198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" name="" descr="&lt;Slide style={{ width: 1280, height: 720, background: '#FFFFFF', padding: '20px 64px' }}&gt;&#10;    &lt;Box style={{ flexDirection: 'row', alignItems: 'center', gap: 16, height: 100 }}&gt;&#10;        &lt;Box style={{ width: 4, height: 40, background: '#0B2545' }} /&gt;&#10;        &lt;Text style={{ fontSize: 34, fontWeight: 'bold', color: '#0B2545' }}&gt;实时打分与末位临时禁言&lt;/Text&gt;&#10;    &lt;/Box&gt;&#10;    &lt;Box style={{ flexDirection: 'row', gap: 44, height: 520, marginTop: 12, alignItems: 'center' }}&gt;&#10;        &lt;Box style={{ width: 400, flexDirection: 'column' }}&gt;&#10;            &lt;Box style={{ flexDirection: 'row', alignItems: 'flex-end', gap: 12 }}&gt;&#10;                &lt;Text style={{ fontSize: 150, fontWeight: 'bold', color: '#00C9A7', lineHeight: 1 }}&gt;2&lt;/Text&gt;&#10;                &lt;Text style={{ fontSize: 44, fontWeight: 'bold', color: '#0B2545', paddingBottom: 12 }}&gt;轮&lt;/Text&gt;&#10;            &lt;/Box&gt;&#10;            &lt;Text style={{ fontSize: 21, fontWeight: 'bold', color: '#0B2545', marginTop: 14, lineHeight: 1.5 }}&gt;连续排名末位 + 分数低于阈值&lt;br /&gt;即触发临时禁言&lt;/Text&gt;&#10;            &lt;Text style={{ fontSize: 16.5, color: '#64748B', marginTop: 12, lineHeight: 1.7 }}&gt;禁止下一轮发言；禁言轮次结束后自动解除，分数重置后重新参与排名。&lt;/Text&gt;&#10;        &lt;/Box&gt;&#10;        &lt;Box style={{ flex: 1, flexDirection: 'column', gap: 14 }}&gt;&#10;            &lt;Box style={{ flexDirection: 'row', alignItems: 'center', gap: 16, height: 76, borderRadius: 10, background: '#F4F7FB', padding: '0 24' }}&gt;&#10;                &lt;FAIcon name='chart-line' style={{ fill: '#2E7CF6', width: 26, height: 26 }} /&gt;&#10;                &lt;Box style={{ flexDirection: 'column', gap: 4 }}&gt;&#10;                    &lt;Text style={{ fontSize: 16.5, fontWeight: 'bold', color: '#0B2545' }}&gt;打分维度&lt;/Text&gt;&#10;                    &lt;Text style={{ fontSize: 14, color: '#64748B' }}&gt;发言质量 · 主题相关性 · 贡献度 · 合规性，裁判实时加权评分&lt;/Text&gt;&#10;                &lt;/Box&gt;&#10;            &lt;/Box&gt;&#10;            &lt;Box style={{ flexDirection: 'row', alignItems: 'center', gap: 16, height: 76, borderRadius: 10, background: '#F4F7FB', padding: '0 24' }}&gt;&#10;                &lt;FAIcon name='list-ol' style={{ fill: '#2E7CF6', width: 26, height: 26 }} /&gt;&#10;                &lt;Box style={{ flexDirection: 'column', gap: 4 }}&gt;&#10;                    &lt;Text style={{ fontSize: 16.5, fontWeight: 'bold', color: '#0B2545' }}&gt;计分榜&lt;/Text&gt;&#10;                    &lt;Text style={{ fontSize: 14, color: '#64748B' }}&gt;每轮发言后动态更新，前端实时同步排名变化&lt;/Text&gt;&#10;                &lt;/Box&gt;&#10;            &lt;/Box&gt;&#10;            &lt;Box style={{ flexDirection: 'row', alignItems: 'center', gap: 16, height: 76, borderRadius: 10, background: '#F4F7FB', padding: '0 24' }}&gt;&#10;                &lt;FAIcon name='volume-mute' style={{ fill: '#0B2545', width: 26, height: 26 }} /&gt;&#10;                &lt;Box style={{ flexDirection: 'column', gap: 4 }}&gt;&#10;                    &lt;Text style={{ fontSize: 16.5, fontWeight: 'bold', color: '#0B2545' }}&gt;禁言触发&lt;/Text&gt;&#10;                    &lt;Text style={{ fontSize: 14, color: '#64748B' }}&gt;连续两轮末位且低于阈值，禁止下一轮发言&lt;/Text&gt;&#10;                &lt;/Box&gt;&#10;            &lt;/Box&gt;&#10;            &lt;Box style={{ flexDirection: 'row', alignItems: 'center', gap: 16, height: 76, borderRadius: 10, background: '#F4F7FB', padding: '0 24' }}&gt;&#10;                &lt;FAIcon name='undo' style={{ fill: '#00A88C', width: 26, height: 26 }} /&gt;&#10;                &lt;Box style={{ flexDirection: 'column', gap: 4 }}&gt;&#10;                    &lt;Text style={{ fontSize: 16.5, fontWeight: 'bold', color: '#0B2545' }}&gt;禁言解除&lt;/Text&gt;&#10;                    &lt;Text style={{ fontSize: 14, color: '#64748B' }}&gt;轮次结束自动解除，分数重置后重新参与排名&lt;/Text&gt;&#10;                &lt;/Box&gt;&#10;            &lt;/Box&gt;&#10;            &lt;Box style={{ borderRadius: 10, background: 'rgba(0,201,167,0.10)', padding: '16px 24px', marginTop: 4 }}&gt;&#10;                &lt;Text style={{ fontSize: 15.5, color: '#0B7A68', lineHeight: 1.6 }}&gt;禁言是调度手段而非惩罚展示：把低贡献模型请出场，让高价值发言占据轮次。&lt;/Text&gt;&#10;            &lt;/Box&gt;&#10;        &lt;/Box&gt;&#10;    &lt;/Box&gt;&#10;    &lt;Box style={{ flexDirection: 'row', justifyContent: 'space-between', alignItems: 'center', height: 36, marginTop: 12 }}&gt;&#10;        &lt;Text style={{ fontSize: 14, color: '#64748B' }}&gt;多AI协助系统 · 三大功能设计总方案&lt;/Text&gt;&#10;        &lt;Text style={{ fontSize: 14, color: '#64748B' }}&gt;10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609600" y="476250"/>
            <a:ext cx="38100" cy="381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实时打分与末位临时禁言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09600" y="2066925"/>
            <a:ext cx="88582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00C9A7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609725" y="3162300"/>
            <a:ext cx="419100" cy="619125"/>
          </a:xfrm>
          <a:prstGeom prst="rect"/>
        </p:spPr>
        <p:txBody>
          <a:bodyPr wrap="none" lIns="0" tIns="0" rIns="0" bIns="85725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B2545"/>
                </a:solidFill>
                <a:latin typeface="Microsoft YaHei"/>
                <a:ea typeface="Microsoft YaHei"/>
              </a:rPr>
              <a:t>轮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9600" y="3914775"/>
            <a:ext cx="3810000" cy="723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0B2545"/>
                </a:solidFill>
                <a:latin typeface="Microsoft YaHei"/>
                <a:ea typeface="Microsoft YaHei"/>
              </a:rPr>
              <a:t>连续排名末位</a:t>
            </a:r>
            <a:r>
              <a:rPr lang="en-US" sz="1575" b="1">
                <a:solidFill>
                  <a:srgbClr val="0B2545"/>
                </a:solidFill>
                <a:latin typeface="Microsoft YaHei"/>
                <a:ea typeface="Microsoft YaHei"/>
              </a:rPr>
              <a:t> + </a:t>
            </a:r>
            <a:r>
              <a:rPr lang="zh-CN" sz="1575" b="1">
                <a:solidFill>
                  <a:srgbClr val="0B2545"/>
                </a:solidFill>
                <a:latin typeface="Microsoft YaHei"/>
                <a:ea typeface="Microsoft YaHei"/>
              </a:rPr>
              <a:t>分数低于阈值</a:t>
            </a:r>
            <a:endParaRPr/>
          </a:p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0B2545"/>
                </a:solidFill>
                <a:latin typeface="Microsoft YaHei"/>
                <a:ea typeface="Microsoft YaHei"/>
              </a:rPr>
              <a:t>即触发临时禁言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4752975"/>
            <a:ext cx="38100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38">
                <a:solidFill>
                  <a:srgbClr val="64748B"/>
                </a:solidFill>
                <a:latin typeface="Microsoft YaHei"/>
                <a:ea typeface="Microsoft YaHei"/>
              </a:rPr>
              <a:t>禁止下一轮发言；禁言轮次结束后自动解除，分数重置后重新参与排名。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4838700" y="1704975"/>
            <a:ext cx="6743700" cy="723900"/>
          </a:xfrm>
          <a:prstGeom prst="roundRect">
            <a:avLst>
              <a:gd name="adj" fmla="val 13158"/>
            </a:avLst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067300" y="1943100"/>
            <a:ext cx="247650" cy="247650"/>
          </a:xfrm>
          <a:prstGeom prst="rect">
            <a:avLst/>
          </a:prstGeom>
          <a:ln/>
        </p:spPr>
      </p:pic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467350" y="1876425"/>
            <a:ext cx="3533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0B2545"/>
                </a:solidFill>
                <a:latin typeface="Microsoft YaHei"/>
                <a:ea typeface="Microsoft YaHei"/>
              </a:rPr>
              <a:t>打分维度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467350" y="2105025"/>
            <a:ext cx="3533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发言质量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主题相关性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贡献度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合规性，裁判实时加权评分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4838700" y="2562225"/>
            <a:ext cx="6743700" cy="723900"/>
          </a:xfrm>
          <a:prstGeom prst="roundRect">
            <a:avLst>
              <a:gd name="adj" fmla="val 13158"/>
            </a:avLst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067300" y="2800350"/>
            <a:ext cx="247650" cy="247650"/>
          </a:xfrm>
          <a:prstGeom prst="rect">
            <a:avLst/>
          </a:prstGeom>
          <a:ln/>
        </p:spPr>
      </p:pic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467350" y="2733675"/>
            <a:ext cx="2667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0B2545"/>
                </a:solidFill>
                <a:latin typeface="Microsoft YaHei"/>
                <a:ea typeface="Microsoft YaHei"/>
              </a:rPr>
              <a:t>计分榜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467350" y="296227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每轮发言后动态更新，前端实时同步排名变化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4838700" y="3419475"/>
            <a:ext cx="6743700" cy="723900"/>
          </a:xfrm>
          <a:prstGeom prst="roundRect">
            <a:avLst>
              <a:gd name="adj" fmla="val 13158"/>
            </a:avLst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067300" y="3657600"/>
            <a:ext cx="247650" cy="247650"/>
          </a:xfrm>
          <a:prstGeom prst="rect">
            <a:avLst/>
          </a:prstGeom>
          <a:ln/>
        </p:spPr>
      </p:pic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467350" y="3590925"/>
            <a:ext cx="2533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0B2545"/>
                </a:solidFill>
                <a:latin typeface="Microsoft YaHei"/>
                <a:ea typeface="Microsoft YaHei"/>
              </a:rPr>
              <a:t>禁言触发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467350" y="3819525"/>
            <a:ext cx="253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连续两轮末位且低于阈值，禁止下一轮发言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4838700" y="4276725"/>
            <a:ext cx="6743700" cy="723900"/>
          </a:xfrm>
          <a:prstGeom prst="roundRect">
            <a:avLst>
              <a:gd name="adj" fmla="val 13158"/>
            </a:avLst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5067300" y="4514850"/>
            <a:ext cx="247650" cy="247650"/>
          </a:xfrm>
          <a:prstGeom prst="rect">
            <a:avLst/>
          </a:prstGeom>
          <a:ln/>
        </p:spPr>
      </p:pic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467350" y="4448175"/>
            <a:ext cx="2667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0B2545"/>
                </a:solidFill>
                <a:latin typeface="Microsoft YaHei"/>
                <a:ea typeface="Microsoft YaHei"/>
              </a:rPr>
              <a:t>禁言解除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467350" y="467677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轮次结束自动解除，分数重置后重新参与排名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4838700" y="5172075"/>
            <a:ext cx="6743700" cy="590550"/>
          </a:xfrm>
          <a:prstGeom prst="roundRect">
            <a:avLst>
              <a:gd name="adj" fmla="val 16129"/>
            </a:avLst>
          </a:prstGeom>
          <a:solidFill>
            <a:srgbClr val="00C9A7">
              <a:alpha val="10000"/>
            </a:srgbClr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067300" y="5324475"/>
            <a:ext cx="628650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63">
                <a:solidFill>
                  <a:srgbClr val="0B7A68"/>
                </a:solidFill>
                <a:latin typeface="Microsoft YaHei"/>
                <a:ea typeface="Microsoft YaHei"/>
              </a:rPr>
              <a:t>禁言是调度手段而非惩罚展示：把低贡献模型请出场，让高价值发言占据轮次。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协助系统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三大功能设计总方案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1125200" y="64198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8" name="" descr="&lt;Slide style={{ width: 1280, height: 720, background: '#FFFFFF', padding: '20px 64px' }}&gt;&#10;    &lt;Box style={{ flexDirection: 'row', alignItems: 'center', gap: 16, height: 100 }}&gt;&#10;        &lt;Box style={{ width: 4, height: 40, background: '#0B2545' }} /&gt;&#10;        &lt;Text style={{ fontSize: 34, fontWeight: 'bold', color: '#0B2545' }}&gt;模块三 · AI 三级文章生成&lt;/Text&gt;&#10;    &lt;/Box&gt;&#10;    &lt;Box style={{ flexDirection: 'row', gap: 26, height: 520, marginTop: 12 }}&gt;&#10;        &lt;Box style={{ width: 690, height: 520, borderRadius: 16, background: '#F4F7FB', padding: 20, justifyContent: 'center', alignItems: 'center' }}&gt;&#10;            &lt;svg width={650} height={476} viewBox='0 0 650 476'&gt;&#10;                &lt;rect x='20' y='24' width='400' height='104' rx='12' fill='#FFFFFF' stroke='#2E7CF6' strokeWidth='2' /&gt;&#10;                &lt;text x='48' y='58' fontSize='13' fontWeight='bold' fill='#2E7CF6'&gt;第一棒 · 官方渠道&lt;/text&gt;&#10;                &lt;text x='48' y='88' fontSize='19' fontWeight='bold' fill='#0B2545'&gt;大纲生成&lt;/text&gt;&#10;                &lt;text x='48' y='112' fontSize='13' fill='#64748B'&gt;建议标题 + 3-5 章节 + 每章 2-3 要点&lt;/text&gt;&#10;                &lt;line x1='220' y1='128' x2='220' y2='152' stroke='#2E7CF6' strokeWidth='2.5' /&gt;&#10;                &lt;polygon points='214,150 226,150 220,160' fill='#2E7CF6' /&gt;&#10;                &lt;rect x='20' y='164' width='400' height='104' rx='12' fill='#FFFFFF' stroke='#2E7CF6' strokeWidth='2' /&gt;&#10;                &lt;text x='48' y='198' fontSize='13' fontWeight='bold' fill='#2E7CF6'&gt;第二棒 · 中转渠道&lt;/text&gt;&#10;                &lt;text x='48' y='228' fontSize='19' fontWeight='bold' fill='#0B2545'&gt;初稿撰写&lt;/text&gt;&#10;                &lt;text x='48' y='252' fontSize='13' fill='#64748B'&gt;严格遵循大纲 · 内容充实 · 符合文体篇幅&lt;/text&gt;&#10;                &lt;line x1='220' y1='268' x2='220' y2='292' stroke='#2E7CF6' strokeWidth='2.5' /&gt;&#10;                &lt;polygon points='214,290 226,290 220,300' fill='#2E7CF6' /&gt;&#10;                &lt;rect x='20' y='304' width='400' height='104' rx='12' fill='rgba(0,201,167,0.10)' stroke='#00C9A7' strokeWidth='3' /&gt;&#10;                &lt;text x='48' y='338' fontSize='13' fontWeight='bold' fill='#00A88C'&gt;第三棒 · 官方渠道 + 裁决校验&lt;/text&gt;&#10;                &lt;text x='48' y='368' fontSize='19' fontWeight='bold' fill='#0B2545'&gt;定稿审核&lt;/text&gt;&#10;                &lt;text x='48' y='392' fontSize='13' fill='#0B7A68'&gt;校验结构 · 优化表达 · 统一风格 · 控制篇幅&lt;/text&gt;&#10;                &lt;line x1='420' y1='356' x2='452' y2='356' stroke='#64748B' strokeWidth='2' strokeDasharray='5 4' /&gt;&#10;                &lt;polygon points='450,350 462,356 450,362' fill='#64748B' /&gt;&#10;                &lt;rect x='458' y='304' width='172' height='104' rx='10' fill='#FFFFFF' stroke='#64748B' strokeWidth='1.5' strokeDasharray='6 4' /&gt;&#10;                &lt;text x='478' y='338' fontSize='15' fontWeight='bold' fill='#0B2545'&gt;修改迭代&lt;/text&gt;&#10;                &lt;text x='478' y='362' fontSize='12.5' fill='#64748B'&gt;用户提交意见，直达&lt;/text&gt;&#10;                &lt;text x='478' y='382' fontSize='12.5' fill='#64748B'&gt;定稿 AI 重写全篇&lt;/text&gt;&#10;                &lt;text x='20' y='446' fontSize='14' fill='#64748B'&gt;全链路串行生成 · 中间结果临时缓存 · 会话结束即释放，不持久化存储&lt;/text&gt;&#10;            &lt;/svg&gt;&#10;        &lt;/Box&gt;&#10;        &lt;Box style={{ flex: 1, flexDirection: 'column', justifyContent: 'center', gap: 18 }}&gt;&#10;            &lt;Text style={{ fontSize: 22, fontWeight: 'bold', color: '#0B2545' }}&gt;核心定位&lt;/Text&gt;&#10;            &lt;Text style={{ fontSize: 16, color: '#14202E', lineHeight: 1.7 }}&gt;&#10;                输入创作需求与参数，3 个固定 AI 角色分级协作，自动完成全流程创作；页面分阶段展示产出，隐藏底层调度逻辑。&#10;            &lt;/Text&gt;&#10;            &lt;Box style={{ flexDirection: 'row', alignItems: 'center', gap: 12 }}&gt;&#10;                &lt;FAIcon name='sliders-h' style={{ fill: '#2E7CF6', width: 24, height: 24 }} /&gt;&#10;                &lt;Text style={{ fontSize: 15.5, color: '#14202E', lineHeight: 1.5 }}&gt;参数选择器：文体 / 风格 / 篇幅自由组合&lt;/Text&gt;&#10;            &lt;/Box&gt;&#10;            &lt;Box style={{ flexDirection: 'row', alignItems: 'center', gap: 12 }}&gt;&#10;                &lt;FAIcon name='layer-group' style={{ fill: '#2E7CF6', width: 24, height: 24 }} /&gt;&#10;                &lt;Text style={{ fontSize: 15.5, color: '#14202E', lineHeight: 1.5 }}&gt;分阶段预览：大纲 / 初稿 / 定稿切换查看&lt;/Text&gt;&#10;            &lt;/Box&gt;&#10;            &lt;Box style={{ flexDirection: 'row', alignItems: 'center', gap: 12 }}&gt;&#10;                &lt;FAIcon name='file-export' style={{ fill: '#00A88C', width: 24, height: 24 }} /&gt;&#10;                &lt;Text style={{ fontSize: 15.5, color: '#14202E', lineHeight: 1.5 }}&gt;一键复制、导出文本文件&lt;/Text&gt;&#10;            &lt;/Box&gt;&#10;        &lt;/Box&gt;&#10;    &lt;/Box&gt;&#10;    &lt;Box style={{ flexDirection: 'row', justifyContent: 'space-between', alignItems: 'center', height: 36, marginTop: 12 }}&gt;&#10;        &lt;Text style={{ fontSize: 14, color: '#64748B' }}&gt;多AI协助系统 · 三大功能设计总方案&lt;/Text&gt;&#10;        &lt;Text style={{ fontSize: 14, color: '#64748B' }}&gt;11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609600" y="476250"/>
            <a:ext cx="38100" cy="381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3705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模块三</a:t>
            </a:r>
            <a:r>
              <a:rPr lang="en-US" sz="2550" b="1">
                <a:solidFill>
                  <a:srgbClr val="0B2545"/>
                </a:solidFill>
                <a:latin typeface="Microsoft YaHei"/>
                <a:ea typeface="Microsoft YaHei"/>
              </a:rPr>
              <a:t> · AI </a:t>
            </a: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三级文章生成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1257300"/>
            <a:ext cx="6572250" cy="495300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466850"/>
            <a:ext cx="6191250" cy="4533900"/>
          </a:xfrm>
          <a:prstGeom prst="rect">
            <a:avLst/>
          </a:prstGeom>
          <a:ln/>
        </p:spPr>
      </p:pic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429500" y="2552700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核心定位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429500" y="2981325"/>
            <a:ext cx="41529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输入创作需求与参数，</a:t>
            </a:r>
            <a:r>
              <a:rPr lang="en-US" sz="1200">
                <a:solidFill>
                  <a:srgbClr val="14202E"/>
                </a:solidFill>
                <a:latin typeface="Microsoft YaHei"/>
                <a:ea typeface="Microsoft YaHei"/>
              </a:rPr>
              <a:t>3 </a:t>
            </a: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个固定</a:t>
            </a:r>
            <a:r>
              <a:rPr lang="en-US" sz="1200">
                <a:solidFill>
                  <a:srgbClr val="14202E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14202E"/>
                </a:solidFill>
                <a:latin typeface="Microsoft YaHei"/>
                <a:ea typeface="Microsoft YaHei"/>
              </a:rPr>
              <a:t>角色分级协作，自动完成全流程创作；页面分阶段展示产出，隐藏底层调度逻辑。</a:t>
            </a:r>
            <a:endParaRPr/>
          </a:p>
        </p:txBody>
      </p:sp>
      <p:pic>
        <p:nvPicPr>
          <p:cNvPr id="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29500" y="3800475"/>
            <a:ext cx="228600" cy="228600"/>
          </a:xfrm>
          <a:prstGeom prst="rect">
            <a:avLst/>
          </a:prstGeom>
          <a:ln/>
        </p:spPr>
      </p:pic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772400" y="3781425"/>
            <a:ext cx="2667000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14202E"/>
                </a:solidFill>
                <a:latin typeface="Microsoft YaHei"/>
                <a:ea typeface="Microsoft YaHei"/>
              </a:rPr>
              <a:t>参数选择器：文体</a:t>
            </a:r>
            <a:r>
              <a:rPr lang="en-US" sz="1163">
                <a:solidFill>
                  <a:srgbClr val="14202E"/>
                </a:solidFill>
                <a:latin typeface="Microsoft YaHei"/>
                <a:ea typeface="Microsoft YaHei"/>
              </a:rPr>
              <a:t> / </a:t>
            </a:r>
            <a:r>
              <a:rPr lang="zh-CN" sz="1163">
                <a:solidFill>
                  <a:srgbClr val="14202E"/>
                </a:solidFill>
                <a:latin typeface="Microsoft YaHei"/>
                <a:ea typeface="Microsoft YaHei"/>
              </a:rPr>
              <a:t>风格</a:t>
            </a:r>
            <a:r>
              <a:rPr lang="en-US" sz="1163">
                <a:solidFill>
                  <a:srgbClr val="14202E"/>
                </a:solidFill>
                <a:latin typeface="Microsoft YaHei"/>
                <a:ea typeface="Microsoft YaHei"/>
              </a:rPr>
              <a:t> / </a:t>
            </a:r>
            <a:r>
              <a:rPr lang="zh-CN" sz="1163">
                <a:solidFill>
                  <a:srgbClr val="14202E"/>
                </a:solidFill>
                <a:latin typeface="Microsoft YaHei"/>
                <a:ea typeface="Microsoft YaHei"/>
              </a:rPr>
              <a:t>篇幅自由组合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429500" y="4238625"/>
            <a:ext cx="228600" cy="228600"/>
          </a:xfrm>
          <a:prstGeom prst="rect">
            <a:avLst/>
          </a:prstGeom>
          <a:ln/>
        </p:spPr>
      </p:pic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772400" y="4219575"/>
            <a:ext cx="2667000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14202E"/>
                </a:solidFill>
                <a:latin typeface="Microsoft YaHei"/>
                <a:ea typeface="Microsoft YaHei"/>
              </a:rPr>
              <a:t>分阶段预览：大纲</a:t>
            </a:r>
            <a:r>
              <a:rPr lang="en-US" sz="1163">
                <a:solidFill>
                  <a:srgbClr val="14202E"/>
                </a:solidFill>
                <a:latin typeface="Microsoft YaHei"/>
                <a:ea typeface="Microsoft YaHei"/>
              </a:rPr>
              <a:t> / </a:t>
            </a:r>
            <a:r>
              <a:rPr lang="zh-CN" sz="1163">
                <a:solidFill>
                  <a:srgbClr val="14202E"/>
                </a:solidFill>
                <a:latin typeface="Microsoft YaHei"/>
                <a:ea typeface="Microsoft YaHei"/>
              </a:rPr>
              <a:t>初稿</a:t>
            </a:r>
            <a:r>
              <a:rPr lang="en-US" sz="1163">
                <a:solidFill>
                  <a:srgbClr val="14202E"/>
                </a:solidFill>
                <a:latin typeface="Microsoft YaHei"/>
                <a:ea typeface="Microsoft YaHei"/>
              </a:rPr>
              <a:t> / </a:t>
            </a:r>
            <a:r>
              <a:rPr lang="zh-CN" sz="1163">
                <a:solidFill>
                  <a:srgbClr val="14202E"/>
                </a:solidFill>
                <a:latin typeface="Microsoft YaHei"/>
                <a:ea typeface="Microsoft YaHei"/>
              </a:rPr>
              <a:t>定稿切换查看</a:t>
            </a:r>
            <a:endParaRPr/>
          </a:p>
        </p:txBody>
      </p:sp>
      <p:pic>
        <p:nvPicPr>
          <p:cNvPr id="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429500" y="4676775"/>
            <a:ext cx="228600" cy="228600"/>
          </a:xfrm>
          <a:prstGeom prst="rect">
            <a:avLst/>
          </a:prstGeom>
          <a:ln/>
        </p:spPr>
      </p:pic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772400" y="4657725"/>
            <a:ext cx="162877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14202E"/>
                </a:solidFill>
                <a:latin typeface="Microsoft YaHei"/>
                <a:ea typeface="Microsoft YaHei"/>
              </a:rPr>
              <a:t>一键复制、导出文本文件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协助系统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三大功能设计总方案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125200" y="64198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54" name="" descr="&lt;Slide style={{ width: 1280, height: 720, background: '#FFFFFF', padding: '20px 64px' }}&gt;&#10;    &lt;Box style={{ flexDirection: 'row', alignItems: 'center', gap: 16, height: 100 }}&gt;&#10;        &lt;Box style={{ width: 4, height: 40, background: '#0B2545' }} /&gt;&#10;        &lt;Text style={{ fontSize: 34, fontWeight: 'bold', color: '#0B2545' }}&gt;三张页面：一致底座，差异化可见性&lt;/Text&gt;&#10;    &lt;/Box&gt;&#10;    &lt;Box style={{ flexDirection: 'row', gap: 20, height: 448, marginTop: 12 }}&gt;&#10;        &lt;Box style={{ flex: 1, background: '#FFFFFF', border: '1px solid #E2E8F0', borderRadius: 14, padding: 26, flexDirection: 'column' }}&gt;&#10;            &lt;Box style={{ flexDirection: 'row', alignItems: 'center', gap: 12 }}&gt;&#10;                &lt;Box style={{ background: '#F4F7FB', borderRadius: 8, padding: '6px 14px' }}&gt;&#10;                    &lt;Text style={{ fontSize: 14, fontWeight: 'bold', color: '#2E7CF6' }}&gt;页面一&lt;/Text&gt;&#10;                &lt;/Box&gt;&#10;                &lt;Text style={{ fontSize: 19, fontWeight: 'bold', color: '#0B2545' }}&gt;文档智能 Prompt 生成&lt;/Text&gt;&#10;            &lt;/Box&gt;&#10;            &lt;Text style={{ fontSize: 15, color: '#14202E', lineHeight: 1.7, marginTop: 16 }}&gt;&#10;                黑盒工具页：用户上传文档并描述需求，系统在后台完成解析、生成、优化、审定四步串行链路，页面只呈现最终可用的 Prompt 与生成状态，支持历史记录轻量查看。AI 列表、调用过程与中间版本全部隐藏——用户要的是结果，不是过程。&#10;            &lt;/Text&gt;&#10;            &lt;Box style={{ marginTop: 'auto', background: '#F4F7FB', borderRadius: 8, padding: '10px 14px' }}&gt;&#10;                &lt;Text style={{ fontSize: 14, color: '#0B2545', fontWeight: 'bold' }}&gt;只给结果 · 一键复制&lt;/Text&gt;&#10;            &lt;/Box&gt;&#10;        &lt;/Box&gt;&#10;        &lt;Box style={{ flex: 1, background: '#FFFFFF', border: '2px solid #00C9A7', borderRadius: 14, padding: 26, flexDirection: 'column' }}&gt;&#10;            &lt;Box style={{ flexDirection: 'row', alignItems: 'center', gap: 12 }}&gt;&#10;                &lt;Box style={{ background: 'rgba(0,201,167,0.14)', borderRadius: 8, padding: '6px 14px' }}&gt;&#10;                    &lt;Text style={{ fontSize: 14, fontWeight: 'bold', color: '#00A88C' }}&gt;页面二 · 核心&lt;/Text&gt;&#10;                &lt;/Box&gt;&#10;                &lt;Text style={{ fontSize: 19, fontWeight: 'bold', color: '#0B2545' }}&gt;多 AI 自动讨论&lt;/Text&gt;&#10;            &lt;/Box&gt;&#10;            &lt;Text style={{ fontSize: 15, color: '#14202E', lineHeight: 1.7, marginTop: 16 }}&gt;&#10;                全程可视化核心页：参与 AI 身份、每一条发言、分数变化与禁言状态全部实时展示；支持模式注入、暂停继续、提前终止，并可导出讨论记录与评估报告。可见性最高——因为它承载的正是「多模型如何协作」这件事本身。&#10;            &lt;/Text&gt;&#10;            &lt;Box style={{ marginTop: 'auto', background: 'rgba(0,201,167,0.10)', borderRadius: 8, padding: '10px 14px' }}&gt;&#10;                &lt;Text style={{ fontSize: 14, color: '#0B7A68', fontWeight: 'bold' }}&gt;全程开放 · 实时排名&lt;/Text&gt;&#10;            &lt;/Box&gt;&#10;        &lt;/Box&gt;&#10;        &lt;Box style={{ flex: 1, background: '#FFFFFF', border: '1px solid #E2E8F0', borderRadius: 14, padding: 26, flexDirection: 'column' }}&gt;&#10;            &lt;Box style={{ flexDirection: 'row', alignItems: 'center', gap: 12 }}&gt;&#10;                &lt;Box style={{ background: '#F4F7FB', borderRadius: 8, padding: '6px 14px' }}&gt;&#10;                    &lt;Text style={{ fontSize: 14, fontWeight: 'bold', color: '#2E7CF6' }}&gt;页面三&lt;/Text&gt;&#10;                &lt;/Box&gt;&#10;                &lt;Text style={{ fontSize: 19, fontWeight: 'bold', color: '#0B2545' }}&gt;AI 三级文章生成&lt;/Text&gt;&#10;            &lt;/Box&gt;&#10;            &lt;Text style={{ fontSize: 15, color: '#14202E', lineHeight: 1.7, marginTop: 16 }}&gt;&#10;                分阶段工具页：大纲、初稿、定稿三个阶段产物依次呈现、可切换查看；用户提交修改意见后直达定稿环节重写，不必重跑全链路。底层调用细节同样隐藏，保持工具页应有的克制——阶段感清晰，但幕布不掀开。&#10;            &lt;/Text&gt;&#10;            &lt;Box style={{ marginTop: 'auto', background: '#F4F7FB', borderRadius: 8, padding: '10px 14px' }}&gt;&#10;                &lt;Text style={{ fontSize: 14, color: '#0B2545', fontWeight: 'bold' }}&gt;分阶段展示 · 直达修改&lt;/Text&gt;&#10;            &lt;/Box&gt;&#10;        &lt;/Box&gt;&#10;    &lt;/Box&gt;&#10;    &lt;Box style={{ height: 56, borderRadius: 10, background: '#F4F7FB', marginTop: 16, justifyContent: 'center', alignItems: 'center' }}&gt;&#10;        &lt;Text style={{ fontSize: 16, fontWeight: 'bold', color: '#0B2545' }}&gt;三个功能共用同一底座：一键切换 · 数据隔离 · 状态互不干扰&lt;/Text&gt;&#10;    &lt;/Box&gt;&#10;    &lt;Box style={{ flexDirection: 'row', justifyContent: 'space-between', alignItems: 'center', height: 36, marginTop: 8 }}&gt;&#10;        &lt;Text style={{ fontSize: 14, color: '#64748B' }}&gt;多AI协助系统 · 三大功能设计总方案&lt;/Text&gt;&#10;        &lt;Text style={{ fontSize: 14, color: '#64748B' }}&gt;12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609600" y="476250"/>
            <a:ext cx="38100" cy="381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00100" y="47625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545"/>
                </a:solidFill>
                <a:latin typeface="Microsoft YaHei"/>
                <a:ea typeface="Microsoft YaHei"/>
              </a:rPr>
              <a:t>三张页面：一致底座，差异化可见性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09600" y="1257300"/>
            <a:ext cx="3533775" cy="42672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857250" y="1504950"/>
            <a:ext cx="666750" cy="276225"/>
          </a:xfrm>
          <a:prstGeom prst="roundRect">
            <a:avLst>
              <a:gd name="adj" fmla="val 2758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90600" y="15621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E7CF6"/>
                </a:solidFill>
                <a:latin typeface="Microsoft YaHei"/>
                <a:ea typeface="Microsoft YaHei"/>
              </a:rPr>
              <a:t>页面一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638300" y="1533525"/>
            <a:ext cx="1885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2545"/>
                </a:solidFill>
                <a:latin typeface="Microsoft YaHei"/>
                <a:ea typeface="Microsoft YaHei"/>
              </a:rPr>
              <a:t>文档智能</a:t>
            </a:r>
            <a:r>
              <a:rPr lang="en-US" sz="1425" b="1">
                <a:solidFill>
                  <a:srgbClr val="0B2545"/>
                </a:solidFill>
                <a:latin typeface="Microsoft YaHei"/>
                <a:ea typeface="Microsoft YaHei"/>
              </a:rPr>
              <a:t> Prompt </a:t>
            </a:r>
            <a:r>
              <a:rPr lang="zh-CN" sz="1425" b="1">
                <a:solidFill>
                  <a:srgbClr val="0B2545"/>
                </a:solidFill>
                <a:latin typeface="Microsoft YaHei"/>
                <a:ea typeface="Microsoft YaHei"/>
              </a:rPr>
              <a:t>生成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57250" y="1933575"/>
            <a:ext cx="3038475" cy="1752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黑盒工具页：用户上传文档并描述需求，系统在后台完成解析、生成、优化、审定四步串行链路，页面只呈现最终可用的</a:t>
            </a:r>
            <a:r>
              <a:rPr lang="en-US" sz="1125">
                <a:solidFill>
                  <a:srgbClr val="14202E"/>
                </a:solidFill>
                <a:latin typeface="Microsoft YaHei"/>
                <a:ea typeface="Microsoft YaHei"/>
              </a:rPr>
              <a:t> Prompt </a:t>
            </a: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与生成状态，支持历史记录轻量查看。</a:t>
            </a:r>
            <a:r>
              <a:rPr lang="en-US" sz="1125">
                <a:solidFill>
                  <a:srgbClr val="14202E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列表、调用过程与中间版本全部隐藏——用户要的是结果，不是过程。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857250" y="4924425"/>
            <a:ext cx="3038475" cy="352425"/>
          </a:xfrm>
          <a:prstGeom prst="roundRect">
            <a:avLst>
              <a:gd name="adj" fmla="val 21622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90600" y="5019675"/>
            <a:ext cx="2771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545"/>
                </a:solidFill>
                <a:latin typeface="Microsoft YaHei"/>
                <a:ea typeface="Microsoft YaHei"/>
              </a:rPr>
              <a:t>只给结果</a:t>
            </a:r>
            <a:r>
              <a:rPr lang="en-US" sz="1050" b="1">
                <a:solidFill>
                  <a:srgbClr val="0B2545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0B2545"/>
                </a:solidFill>
                <a:latin typeface="Microsoft YaHei"/>
                <a:ea typeface="Microsoft YaHei"/>
              </a:rPr>
              <a:t>一键复制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333875" y="1257300"/>
            <a:ext cx="3524250" cy="426720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25400">
            <a:solidFill>
              <a:srgbClr val="00C9A7"/>
            </a:solidFill>
            <a:prstDash val="solid"/>
          </a:ln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4581525" y="1504950"/>
            <a:ext cx="1076325" cy="276225"/>
          </a:xfrm>
          <a:prstGeom prst="roundRect">
            <a:avLst>
              <a:gd name="adj" fmla="val 27586"/>
            </a:avLst>
          </a:prstGeom>
          <a:solidFill>
            <a:srgbClr val="00C9A7">
              <a:alpha val="14000"/>
            </a:srgbClr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714875" y="1562100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0A88C"/>
                </a:solidFill>
                <a:latin typeface="Microsoft YaHei"/>
                <a:ea typeface="Microsoft YaHei"/>
              </a:rPr>
              <a:t>页面二</a:t>
            </a:r>
            <a:r>
              <a:rPr lang="en-US" sz="1050" b="1">
                <a:solidFill>
                  <a:srgbClr val="00A88C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00A88C"/>
                </a:solidFill>
                <a:latin typeface="Microsoft YaHei"/>
                <a:ea typeface="Microsoft YaHei"/>
              </a:rPr>
              <a:t>核心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772150" y="1533525"/>
            <a:ext cx="1209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2545"/>
                </a:solidFill>
                <a:latin typeface="Microsoft YaHei"/>
                <a:ea typeface="Microsoft YaHei"/>
              </a:rPr>
              <a:t>多</a:t>
            </a:r>
            <a:r>
              <a:rPr lang="en-US" sz="1425" b="1">
                <a:solidFill>
                  <a:srgbClr val="0B2545"/>
                </a:solidFill>
                <a:latin typeface="Microsoft YaHei"/>
                <a:ea typeface="Microsoft YaHei"/>
              </a:rPr>
              <a:t> AI </a:t>
            </a:r>
            <a:r>
              <a:rPr lang="zh-CN" sz="1425" b="1">
                <a:solidFill>
                  <a:srgbClr val="0B2545"/>
                </a:solidFill>
                <a:latin typeface="Microsoft YaHei"/>
                <a:ea typeface="Microsoft YaHei"/>
              </a:rPr>
              <a:t>自动讨论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581525" y="1933575"/>
            <a:ext cx="3028950" cy="1457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全程可视化核心页：参与</a:t>
            </a:r>
            <a:r>
              <a:rPr lang="en-US" sz="1125">
                <a:solidFill>
                  <a:srgbClr val="14202E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身份、每一条发言、分数变化与禁言状态全部实时展示；支持模式注入、暂停继续、提前终止，并可导出讨论记录与评估报告。可见性最高——因为它承载的正是「多模型如何协作」这件事本身。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4581525" y="4924425"/>
            <a:ext cx="3028950" cy="352425"/>
          </a:xfrm>
          <a:prstGeom prst="roundRect">
            <a:avLst>
              <a:gd name="adj" fmla="val 21622"/>
            </a:avLst>
          </a:prstGeom>
          <a:solidFill>
            <a:srgbClr val="00C9A7">
              <a:alpha val="10000"/>
            </a:srgbClr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714875" y="5019675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7A68"/>
                </a:solidFill>
                <a:latin typeface="Microsoft YaHei"/>
                <a:ea typeface="Microsoft YaHei"/>
              </a:rPr>
              <a:t>全程开放</a:t>
            </a:r>
            <a:r>
              <a:rPr lang="en-US" sz="1050" b="1">
                <a:solidFill>
                  <a:srgbClr val="0B7A68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0B7A68"/>
                </a:solidFill>
                <a:latin typeface="Microsoft YaHei"/>
                <a:ea typeface="Microsoft YaHei"/>
              </a:rPr>
              <a:t>实时排名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8048625" y="1257300"/>
            <a:ext cx="3533775" cy="42672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8296275" y="1504950"/>
            <a:ext cx="666750" cy="276225"/>
          </a:xfrm>
          <a:prstGeom prst="roundRect">
            <a:avLst>
              <a:gd name="adj" fmla="val 2758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429625" y="15621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E7CF6"/>
                </a:solidFill>
                <a:latin typeface="Microsoft YaHei"/>
                <a:ea typeface="Microsoft YaHei"/>
              </a:rPr>
              <a:t>页面三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077325" y="1533525"/>
            <a:ext cx="1343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545"/>
                </a:solidFill>
                <a:latin typeface="Microsoft YaHei"/>
                <a:ea typeface="Microsoft YaHei"/>
              </a:rPr>
              <a:t>AI </a:t>
            </a:r>
            <a:r>
              <a:rPr lang="zh-CN" sz="1425" b="1">
                <a:solidFill>
                  <a:srgbClr val="0B2545"/>
                </a:solidFill>
                <a:latin typeface="Microsoft YaHei"/>
                <a:ea typeface="Microsoft YaHei"/>
              </a:rPr>
              <a:t>三级文章生成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296275" y="1933575"/>
            <a:ext cx="3038475" cy="1457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14202E"/>
                </a:solidFill>
                <a:latin typeface="Microsoft YaHei"/>
                <a:ea typeface="Microsoft YaHei"/>
              </a:rPr>
              <a:t>分阶段工具页：大纲、初稿、定稿三个阶段产物依次呈现、可切换查看；用户提交修改意见后直达定稿环节重写，不必重跑全链路。底层调用细节同样隐藏，保持工具页应有的克制——阶段感清晰，但幕布不掀开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8296275" y="4924425"/>
            <a:ext cx="3038475" cy="352425"/>
          </a:xfrm>
          <a:prstGeom prst="roundRect">
            <a:avLst>
              <a:gd name="adj" fmla="val 21622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429625" y="5019675"/>
            <a:ext cx="2771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545"/>
                </a:solidFill>
                <a:latin typeface="Microsoft YaHei"/>
                <a:ea typeface="Microsoft YaHei"/>
              </a:rPr>
              <a:t>分阶段展示</a:t>
            </a:r>
            <a:r>
              <a:rPr lang="en-US" sz="1050" b="1">
                <a:solidFill>
                  <a:srgbClr val="0B2545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0B2545"/>
                </a:solidFill>
                <a:latin typeface="Microsoft YaHei"/>
                <a:ea typeface="Microsoft YaHei"/>
              </a:rPr>
              <a:t>直达修改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09600" y="5676900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029075" y="5848350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545"/>
                </a:solidFill>
                <a:latin typeface="Microsoft YaHei"/>
                <a:ea typeface="Microsoft YaHei"/>
              </a:rPr>
              <a:t>三个功能共用同一底座：一键切换</a:t>
            </a:r>
            <a:r>
              <a:rPr lang="en-US" sz="1200" b="1">
                <a:solidFill>
                  <a:srgbClr val="0B2545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0B2545"/>
                </a:solidFill>
                <a:latin typeface="Microsoft YaHei"/>
                <a:ea typeface="Microsoft YaHei"/>
              </a:rPr>
              <a:t>数据隔离</a:t>
            </a:r>
            <a:r>
              <a:rPr lang="en-US" sz="1200" b="1">
                <a:solidFill>
                  <a:srgbClr val="0B2545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0B2545"/>
                </a:solidFill>
                <a:latin typeface="Microsoft YaHei"/>
                <a:ea typeface="Microsoft YaHei"/>
              </a:rPr>
              <a:t>状态互不干扰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09600" y="638175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协助系统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三大功能设计总方案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3" name="" descr="&lt;Slide style={{ width: 1280, height: 720, background: 'linear-gradient(135deg, #0B2545 0%, #123C6E 100%)', padding: '20px 84px' }}&gt;&#10;    &lt;Box style={{ flex: 1, flexDirection: 'column', justifyContent: 'center' }}&gt;&#10;        &lt;Box style={{ flexDirection: 'row', alignItems: 'flex-end', gap: 24 }}&gt;&#10;            &lt;Text style={{ fontSize: 100, fontWeight: 'bold', color: '#00C9A7', lineHeight: 1 }}&gt;03&lt;/Text&gt;&#10;            &lt;Text style={{ fontSize: 64, fontWeight: 'bold', color: '#FFFFFF', lineHeight: 1.1, paddingBottom: 8 }}&gt;落地约束&lt;/Text&gt;&#10;        &lt;/Box&gt;&#10;        &lt;Text style={{ fontSize: 20, color: 'rgba(255,255,255,0.78)', marginTop: 28, lineHeight: 1.7 }}&gt;&#10;            五条统一约束，决定这套系统能不能长期维护&#10;        &lt;/Text&gt;&#10;    &lt;/Box&gt;&#10;    &lt;Box style={{ flexDirection: 'row', justifyContent: 'space-between', alignItems: 'center', height: 36 }}&gt;&#10;        &lt;Text style={{ fontSize: 14, color: 'rgba(255,255,255,0.55)' }}&gt;多AI协助系统 · 三大功能设计总方案&lt;/Text&gt;&#10;        &lt;Text style={{ fontSize: 14, color: 'rgba(255,255,255,0.55)' }}&gt;13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123C6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00100" y="2362200"/>
            <a:ext cx="118110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00C9A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209800" y="2619375"/>
            <a:ext cx="2438400" cy="885825"/>
          </a:xfrm>
          <a:prstGeom prst="rect"/>
        </p:spPr>
        <p:txBody>
          <a:bodyPr wrap="none" lIns="0" tIns="0" rIns="0" bIns="57150"/>
          <a:p>
            <a:pPr>
              <a:lnSpc>
                <a:spcPct val="11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落地约束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00100" y="3771900"/>
            <a:ext cx="10591800" cy="3905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五条统一约束，决定这套系统能不能长期维护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00100" y="641985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协助系统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三大功能设计总方案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0934700" y="64198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90" name="" descr="&lt;Slide style={{ width: 1280, height: 720, background: 'linear-gradient(135deg, #0B2545 0%, #123C6E 100%)', padding: '20px 84px' }}&gt;&#10;    &lt;Box style={{ flex: 1, flexDirection: 'column', justifyContent: 'center', alignItems: 'center' }}&gt;&#10;        &lt;Box style={{ flexDirection: 'row', alignItems: 'flex-end', gap: 22 }}&gt;&#10;            &lt;Text style={{ fontSize: 130, fontWeight: 'bold', color: '#00C9A7', lineHeight: 1 }}&gt;5&lt;/Text&gt;&#10;            &lt;Text style={{ fontSize: 52, fontWeight: 'bold', color: '#FFFFFF', paddingBottom: 10 }}&gt;条统一约束&lt;/Text&gt;&#10;        &lt;/Box&gt;&#10;        &lt;Box style={{ flexDirection: 'row', gap: 14, marginTop: 34 }}&gt;&#10;            &lt;Box style={{ border: '1.5px solid rgba(255,255,255,0.35)', borderRadius: 999, padding: '10px 26px' }}&gt;&lt;Text style={{ fontSize: 16, color: '#FFFFFF' }}&gt;架构统一&lt;/Text&gt;&lt;/Box&gt;&#10;            &lt;Box style={{ border: '1.5px solid rgba(255,255,255,0.35)', borderRadius: 999, padding: '10px 26px' }}&gt;&lt;Text style={{ fontSize: 16, color: '#FFFFFF' }}&gt;接口统一&lt;/Text&gt;&lt;/Box&gt;&#10;            &lt;Box style={{ border: '1.5px solid rgba(255,255,255,0.35)', borderRadius: 999, padding: '10px 26px' }}&gt;&lt;Text style={{ fontSize: 16, color: '#FFFFFF' }}&gt;性能统一&lt;/Text&gt;&lt;/Box&gt;&#10;            &lt;Box style={{ border: '1.5px solid rgba(255,255,255,0.35)', borderRadius: 999, padding: '10px 26px' }}&gt;&lt;Text style={{ fontSize: 16, color: '#FFFFFF' }}&gt;体验统一&lt;/Text&gt;&lt;/Box&gt;&#10;            &lt;Box style={{ border: '1.5px solid #00C9A7', background: 'rgba(0,201,167,0.12)', borderRadius: 999, padding: '10px 26px' }}&gt;&lt;Text style={{ fontSize: 16, color: '#00C9A7' }}&gt;可扩展&lt;/Text&gt;&lt;/Box&gt;&#10;        &lt;/Box&gt;&#10;        &lt;Text style={{ fontSize: 27, fontWeight: 'bold', color: '#FFFFFF', marginTop: 46 }}&gt;一套系统，而不是三个项目。&lt;/Text&gt;&#10;        &lt;Text style={{ fontSize: 16, color: 'rgba(255,255,255,0.65)', marginTop: 14, lineHeight: 1.7 }}&gt;共用调度中心与渠道管理 · 预留模型扩展与模式自定义接口 · 支持后续迭代升级&lt;/Text&gt;&#10;    &lt;/Box&gt;&#10;    &lt;Box style={{ flexDirection: 'row', justifyContent: 'space-between', alignItems: 'center', height: 36 }}&gt;&#10;        &lt;Text style={{ fontSize: 14, color: 'rgba(255,255,255,0.55)' }}&gt;多AI协助系统 · 三大功能设计总方案&lt;/Text&gt;&#10;        &lt;Text style={{ fontSize: 14, color: 'rgba(255,255,255,0.55)' }}&gt;14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123C6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371975" y="1562100"/>
            <a:ext cx="771525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0C9A7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353050" y="2352675"/>
            <a:ext cx="2476500" cy="69532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条统一约束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3143250" y="3371850"/>
            <a:ext cx="1104900" cy="381000"/>
          </a:xfrm>
          <a:prstGeom prst="roundRect">
            <a:avLst>
              <a:gd name="adj" fmla="val 2497500"/>
            </a:avLst>
          </a:prstGeom>
          <a:ln w="1905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3390900" y="34671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架构统一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4381500" y="3371850"/>
            <a:ext cx="1104900" cy="381000"/>
          </a:xfrm>
          <a:prstGeom prst="roundRect">
            <a:avLst>
              <a:gd name="adj" fmla="val 2497500"/>
            </a:avLst>
          </a:prstGeom>
          <a:ln w="1905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629150" y="34671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接口统一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5619750" y="3371850"/>
            <a:ext cx="1104900" cy="381000"/>
          </a:xfrm>
          <a:prstGeom prst="roundRect">
            <a:avLst>
              <a:gd name="adj" fmla="val 2497500"/>
            </a:avLst>
          </a:prstGeom>
          <a:ln w="1905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5867400" y="34671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性能统一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858000" y="3371850"/>
            <a:ext cx="1104900" cy="381000"/>
          </a:xfrm>
          <a:prstGeom prst="roundRect">
            <a:avLst>
              <a:gd name="adj" fmla="val 2497500"/>
            </a:avLst>
          </a:prstGeom>
          <a:ln w="1905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105650" y="34671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体验统一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8096250" y="3371850"/>
            <a:ext cx="952500" cy="381000"/>
          </a:xfrm>
          <a:prstGeom prst="roundRect">
            <a:avLst>
              <a:gd name="adj" fmla="val 2497500"/>
            </a:avLst>
          </a:prstGeom>
          <a:solidFill>
            <a:srgbClr val="00C9A7">
              <a:alpha val="12000"/>
            </a:srgbClr>
          </a:solidFill>
          <a:ln w="19050">
            <a:solidFill>
              <a:srgbClr val="00C9A7"/>
            </a:solidFill>
            <a:prstDash val="solid"/>
          </a:ln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343900" y="34671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0C9A7"/>
                </a:solidFill>
                <a:latin typeface="Microsoft YaHei"/>
                <a:ea typeface="Microsoft YaHei"/>
              </a:rPr>
              <a:t>可扩展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429125" y="4191000"/>
            <a:ext cx="334327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FFFFFF"/>
                </a:solidFill>
                <a:latin typeface="Microsoft YaHei"/>
                <a:ea typeface="Microsoft YaHei"/>
              </a:rPr>
              <a:t>一套系统，而不是三个项目。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457575" y="4638675"/>
            <a:ext cx="5286375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共用调度中心与渠道管理</a:t>
            </a:r>
            <a:r>
              <a:rPr lang="en-US" sz="120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预留模型扩展与模式自定义接口</a:t>
            </a:r>
            <a:r>
              <a:rPr lang="en-US" sz="120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支持后续迭代升级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00100" y="641985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协助系统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三大功能设计总方案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0934700" y="64198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14 / 14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2026-09-20T21:51:44Z</dcterms:created>
  <dcterms:modified xsi:type="dcterms:W3CDTF">2026-09-20T21:51:44Z</dcterms:modified>
</cp:coreProperties>
</file>